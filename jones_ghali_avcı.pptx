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2.xml" ContentType="application/vnd.openxmlformats-officedocument.presentationml.notesSlide+xml"/>
  <Override PartName="/ppt/ink/ink3.xml" ContentType="application/inkml+xml"/>
  <Override PartName="/ppt/ink/ink4.xml" ContentType="application/inkml+xml"/>
  <Override PartName="/ppt/notesSlides/notesSlide3.xml" ContentType="application/vnd.openxmlformats-officedocument.presentationml.notesSlide+xml"/>
  <Override PartName="/ppt/ink/ink5.xml" ContentType="application/inkml+xml"/>
  <Override PartName="/ppt/ink/ink6.xml" ContentType="application/inkml+xml"/>
  <Override PartName="/ppt/notesSlides/notesSlide4.xml" ContentType="application/vnd.openxmlformats-officedocument.presentationml.notesSlide+xml"/>
  <Override PartName="/ppt/ink/ink7.xml" ContentType="application/inkml+xml"/>
  <Override PartName="/ppt/ink/ink8.xml" ContentType="application/inkml+xml"/>
  <Override PartName="/ppt/notesSlides/notesSlide5.xml" ContentType="application/vnd.openxmlformats-officedocument.presentationml.notesSlide+xml"/>
  <Override PartName="/ppt/ink/ink9.xml" ContentType="application/inkml+xml"/>
  <Override PartName="/ppt/ink/ink10.xml" ContentType="application/inkml+xml"/>
  <Override PartName="/ppt/notesSlides/notesSlide6.xml" ContentType="application/vnd.openxmlformats-officedocument.presentationml.notesSlide+xml"/>
  <Override PartName="/ppt/ink/ink11.xml" ContentType="application/inkml+xml"/>
  <Override PartName="/ppt/ink/ink12.xml" ContentType="application/inkml+xml"/>
  <Override PartName="/ppt/notesSlides/notesSlide7.xml" ContentType="application/vnd.openxmlformats-officedocument.presentationml.notesSlide+xml"/>
  <Override PartName="/ppt/ink/ink13.xml" ContentType="application/inkml+xml"/>
  <Override PartName="/ppt/ink/ink14.xml" ContentType="application/inkml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14"/>
  </p:notesMasterIdLst>
  <p:sldIdLst>
    <p:sldId id="288" r:id="rId5"/>
    <p:sldId id="269" r:id="rId6"/>
    <p:sldId id="294" r:id="rId7"/>
    <p:sldId id="295" r:id="rId8"/>
    <p:sldId id="296" r:id="rId9"/>
    <p:sldId id="297" r:id="rId10"/>
    <p:sldId id="298" r:id="rId11"/>
    <p:sldId id="299" r:id="rId12"/>
    <p:sldId id="293" r:id="rId13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FEFFFE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FEFFFE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FEFFFE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FEFFFE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FEFFFE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FEFFFE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FEFFFE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FEFFFE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FEFFFE"/>
        </a:solidFill>
        <a:effectLst/>
        <a:uFillTx/>
        <a:latin typeface="+mj-lt"/>
        <a:ea typeface="+mj-ea"/>
        <a:cs typeface="+mj-cs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69DF855-2044-4378-D382-97019082214F}" name="Eda nur Saruhan" initials="" userId="S::eda.nur.saruhan@undp.org::c5d9941d-5539-4cc6-837d-40b768a4e45a" providerId="AD"/>
  <p188:author id="{5773C6ED-D5C0-6998-8565-4039F0794B89}" name="carlosnieto_r@hotmail.com" initials="ca" userId="S::urn:spo:guest#carlosnieto_r@hotmail.com::" providerId="AD"/>
  <p188:author id="{AD2977F2-1110-00CA-B921-CFBBF1E22859}" name="Ipek Beril Benli" initials="IB" userId="S::ipek.beril.benli@undp.org::8f9c5f4b-b22c-49ff-bdd5-d07e2760743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2A49"/>
    <a:srgbClr val="4618DE"/>
    <a:srgbClr val="6E1E90"/>
    <a:srgbClr val="F04A23"/>
    <a:srgbClr val="EE482C"/>
    <a:srgbClr val="4617DE"/>
    <a:srgbClr val="FE2E46"/>
    <a:srgbClr val="9D67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FEFFFE"/>
        </a:fontRef>
        <a:srgbClr val="FEFFFE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EBCC"/>
          </a:solidFill>
        </a:fill>
      </a:tcStyle>
    </a:wholeTbl>
    <a:band2H>
      <a:tcTxStyle/>
      <a:tcStyle>
        <a:tcBdr/>
        <a:fill>
          <a:solidFill>
            <a:srgbClr val="FFF5E7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FEFFFE"/>
        </a:fontRef>
        <a:srgbClr val="FEFFFE"/>
      </a:tcTxStyle>
      <a:tcStyle>
        <a:tcBdr>
          <a:left>
            <a:ln w="12700" cap="flat">
              <a:solidFill>
                <a:schemeClr val="accent5"/>
              </a:solidFill>
              <a:prstDash val="solid"/>
              <a:round/>
            </a:ln>
          </a:left>
          <a:right>
            <a:ln w="12700" cap="flat">
              <a:solidFill>
                <a:schemeClr val="accent5"/>
              </a:solidFill>
              <a:prstDash val="solid"/>
              <a:round/>
            </a:ln>
          </a:right>
          <a:top>
            <a:ln w="12700" cap="flat">
              <a:solidFill>
                <a:schemeClr val="accent5"/>
              </a:solidFill>
              <a:prstDash val="solid"/>
              <a:round/>
            </a:ln>
          </a:top>
          <a:bottom>
            <a:ln w="12700" cap="flat">
              <a:solidFill>
                <a:schemeClr val="accent5"/>
              </a:solidFill>
              <a:prstDash val="solid"/>
              <a:round/>
            </a:ln>
          </a:bottom>
          <a:insideH>
            <a:ln w="12700" cap="flat">
              <a:solidFill>
                <a:schemeClr val="accent5"/>
              </a:solidFill>
              <a:prstDash val="solid"/>
              <a:round/>
            </a:ln>
          </a:insideH>
          <a:insideV>
            <a:ln w="12700" cap="flat">
              <a:solidFill>
                <a:schemeClr val="accent5"/>
              </a:solidFill>
              <a:prstDash val="solid"/>
              <a:round/>
            </a:ln>
          </a:insideV>
        </a:tcBdr>
        <a:fill>
          <a:solidFill>
            <a:schemeClr val="accent5">
              <a:alpha val="20000"/>
            </a:scheme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EFFFE"/>
        </a:fontRef>
        <a:srgbClr val="FEFFFE"/>
      </a:tcTxStyle>
      <a:tcStyle>
        <a:tcBdr>
          <a:left>
            <a:ln w="12700" cap="flat">
              <a:solidFill>
                <a:schemeClr val="accent5"/>
              </a:solidFill>
              <a:prstDash val="solid"/>
              <a:round/>
            </a:ln>
          </a:left>
          <a:right>
            <a:ln w="12700" cap="flat">
              <a:solidFill>
                <a:schemeClr val="accent5"/>
              </a:solidFill>
              <a:prstDash val="solid"/>
              <a:round/>
            </a:ln>
          </a:right>
          <a:top>
            <a:ln w="12700" cap="flat">
              <a:solidFill>
                <a:schemeClr val="accent5"/>
              </a:solidFill>
              <a:prstDash val="solid"/>
              <a:round/>
            </a:ln>
          </a:top>
          <a:bottom>
            <a:ln w="12700" cap="flat">
              <a:solidFill>
                <a:schemeClr val="accent5"/>
              </a:solidFill>
              <a:prstDash val="solid"/>
              <a:round/>
            </a:ln>
          </a:bottom>
          <a:insideH>
            <a:ln w="12700" cap="flat">
              <a:solidFill>
                <a:schemeClr val="accent5"/>
              </a:solidFill>
              <a:prstDash val="solid"/>
              <a:round/>
            </a:ln>
          </a:insideH>
          <a:insideV>
            <a:ln w="12700" cap="flat">
              <a:solidFill>
                <a:schemeClr val="accent5"/>
              </a:solidFill>
              <a:prstDash val="solid"/>
              <a:round/>
            </a:ln>
          </a:insideV>
        </a:tcBdr>
        <a:fill>
          <a:solidFill>
            <a:schemeClr val="accent5">
              <a:alpha val="20000"/>
            </a:schemeClr>
          </a:solidFill>
        </a:fill>
      </a:tcStyle>
    </a:firstCol>
    <a:lastRow>
      <a:tcTxStyle b="on" i="off">
        <a:fontRef idx="major">
          <a:srgbClr val="FEFFFE"/>
        </a:fontRef>
        <a:srgbClr val="FEFFFE"/>
      </a:tcTxStyle>
      <a:tcStyle>
        <a:tcBdr>
          <a:left>
            <a:ln w="12700" cap="flat">
              <a:solidFill>
                <a:schemeClr val="accent5"/>
              </a:solidFill>
              <a:prstDash val="solid"/>
              <a:round/>
            </a:ln>
          </a:left>
          <a:right>
            <a:ln w="12700" cap="flat">
              <a:solidFill>
                <a:schemeClr val="accent5"/>
              </a:solidFill>
              <a:prstDash val="solid"/>
              <a:round/>
            </a:ln>
          </a:right>
          <a:top>
            <a:ln w="50800" cap="flat">
              <a:solidFill>
                <a:schemeClr val="accent5"/>
              </a:solidFill>
              <a:prstDash val="solid"/>
              <a:round/>
            </a:ln>
          </a:top>
          <a:bottom>
            <a:ln w="12700" cap="flat">
              <a:solidFill>
                <a:schemeClr val="accent5"/>
              </a:solidFill>
              <a:prstDash val="solid"/>
              <a:round/>
            </a:ln>
          </a:bottom>
          <a:insideH>
            <a:ln w="12700" cap="flat">
              <a:solidFill>
                <a:schemeClr val="accent5"/>
              </a:solidFill>
              <a:prstDash val="solid"/>
              <a:round/>
            </a:ln>
          </a:insideH>
          <a:insideV>
            <a:ln w="12700" cap="flat">
              <a:solidFill>
                <a:schemeClr val="accent5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FEFFFE"/>
        </a:fontRef>
        <a:srgbClr val="FEFFFE"/>
      </a:tcTxStyle>
      <a:tcStyle>
        <a:tcBdr>
          <a:left>
            <a:ln w="12700" cap="flat">
              <a:solidFill>
                <a:schemeClr val="accent5"/>
              </a:solidFill>
              <a:prstDash val="solid"/>
              <a:round/>
            </a:ln>
          </a:left>
          <a:right>
            <a:ln w="12700" cap="flat">
              <a:solidFill>
                <a:schemeClr val="accent5"/>
              </a:solidFill>
              <a:prstDash val="solid"/>
              <a:round/>
            </a:ln>
          </a:right>
          <a:top>
            <a:ln w="12700" cap="flat">
              <a:solidFill>
                <a:schemeClr val="accent5"/>
              </a:solidFill>
              <a:prstDash val="solid"/>
              <a:round/>
            </a:ln>
          </a:top>
          <a:bottom>
            <a:ln w="25400" cap="flat">
              <a:solidFill>
                <a:schemeClr val="accent5"/>
              </a:solidFill>
              <a:prstDash val="solid"/>
              <a:round/>
            </a:ln>
          </a:bottom>
          <a:insideH>
            <a:ln w="12700" cap="flat">
              <a:solidFill>
                <a:schemeClr val="accent5"/>
              </a:solidFill>
              <a:prstDash val="solid"/>
              <a:round/>
            </a:ln>
          </a:insideH>
          <a:insideV>
            <a:ln w="12700" cap="flat">
              <a:solidFill>
                <a:schemeClr val="accent5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EEE7283C-3CF3-47DC-8721-378D4A62B228}" styleName="">
    <a:tblBg/>
    <a:wholeTbl>
      <a:tcTxStyle b="off" i="off">
        <a:fontRef idx="major">
          <a:srgbClr val="FEFFFE"/>
        </a:fontRef>
        <a:srgbClr val="FEFFFE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1D4E2"/>
          </a:solidFill>
        </a:fill>
      </a:tcStyle>
    </a:wholeTbl>
    <a:band2H>
      <a:tcTxStyle/>
      <a:tcStyle>
        <a:tcBdr/>
        <a:fill>
          <a:solidFill>
            <a:srgbClr val="E9EBF1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FEFFFE"/>
        </a:fontRef>
        <a:srgbClr val="FEFFFE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FEFFFE"/>
        </a:fontRef>
        <a:srgbClr val="FEFFFE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EFFFE"/>
        </a:fontRef>
        <a:srgbClr val="FEFFFE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FEFFFE"/>
              </a:solidFill>
              <a:prstDash val="solid"/>
              <a:round/>
            </a:ln>
          </a:top>
          <a:bottom>
            <a:ln w="25400" cap="flat">
              <a:solidFill>
                <a:srgbClr val="FEFFFE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FEFFFE"/>
              </a:solidFill>
              <a:prstDash val="solid"/>
              <a:round/>
            </a:ln>
          </a:top>
          <a:bottom>
            <a:ln w="25400" cap="flat">
              <a:solidFill>
                <a:srgbClr val="FEFFFE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FEFFFE"/>
        </a:fontRef>
        <a:srgbClr val="FEFFFE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EFFFE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EFFFE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EFFFE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/>
    <p:restoredTop sz="94676"/>
  </p:normalViewPr>
  <p:slideViewPr>
    <p:cSldViewPr snapToGrid="0">
      <p:cViewPr>
        <p:scale>
          <a:sx n="87" d="100"/>
          <a:sy n="87" d="100"/>
        </p:scale>
        <p:origin x="1560" y="7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5:40:34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22541 4514 8642 0 0,'0'0'0'0'0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7:14:10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8758 4343 1183 0 0,'1'-6'2657'0'0,"0"-1"-2657"0"0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5:40:34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22541 4514 8642 0 0,'0'0'0'0'0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7:14:10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8758 4343 1183 0 0,'1'-6'2657'0'0,"0"-1"-2657"0"0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5:40:34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22541 4514 8642 0 0,'0'0'0'0'0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7:14:10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8758 4343 1183 0 0,'1'-6'2657'0'0,"0"-1"-2657"0"0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5:40:34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22541 4514 8642 0 0,'0'0'0'0'0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7:14:10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8758 4343 1183 0 0,'1'-6'2657'0'0,"0"-1"-2657"0"0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5:40:34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22541 4514 8642 0 0,'0'0'0'0'0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7:14:10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8758 4343 1183 0 0,'1'-6'2657'0'0,"0"-1"-2657"0"0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5:40:34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22541 4514 8642 0 0,'0'0'0'0'0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7:14:10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8758 4343 1183 0 0,'1'-6'2657'0'0,"0"-1"-2657"0"0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5:40:34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22541 4514 8642 0 0,'0'0'0'0'0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7:14:10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8758 4343 1183 0 0,'1'-6'2657'0'0,"0"-1"-2657"0"0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Shape 465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66" name="Shape 466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02" name="Shape 50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197693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3CDEE7-B1C7-B77E-9460-BDE95D7C0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>
            <a:extLst>
              <a:ext uri="{FF2B5EF4-FFF2-40B4-BE49-F238E27FC236}">
                <a16:creationId xmlns:a16="http://schemas.microsoft.com/office/drawing/2014/main" id="{69F37EDA-5D74-3B16-92DD-CF07C25829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02" name="Shape 502">
            <a:extLst>
              <a:ext uri="{FF2B5EF4-FFF2-40B4-BE49-F238E27FC236}">
                <a16:creationId xmlns:a16="http://schemas.microsoft.com/office/drawing/2014/main" id="{1B60B6DF-8EAE-1B03-A620-A4433DA2AE70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166742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A7C2E-EBAA-1BDE-FCD9-9C8AB269A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>
            <a:extLst>
              <a:ext uri="{FF2B5EF4-FFF2-40B4-BE49-F238E27FC236}">
                <a16:creationId xmlns:a16="http://schemas.microsoft.com/office/drawing/2014/main" id="{247FD5B4-2DF6-DCB8-6709-171B39B0EB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02" name="Shape 502">
            <a:extLst>
              <a:ext uri="{FF2B5EF4-FFF2-40B4-BE49-F238E27FC236}">
                <a16:creationId xmlns:a16="http://schemas.microsoft.com/office/drawing/2014/main" id="{D9FCBFE0-A071-C3C4-7BC6-CAF8CD736CD0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480521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E37F58-0EE9-57C0-F23D-6FA1D86FE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>
            <a:extLst>
              <a:ext uri="{FF2B5EF4-FFF2-40B4-BE49-F238E27FC236}">
                <a16:creationId xmlns:a16="http://schemas.microsoft.com/office/drawing/2014/main" id="{9F7A9DA8-F123-49A4-2DB2-34A3BFE928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02" name="Shape 502">
            <a:extLst>
              <a:ext uri="{FF2B5EF4-FFF2-40B4-BE49-F238E27FC236}">
                <a16:creationId xmlns:a16="http://schemas.microsoft.com/office/drawing/2014/main" id="{72FD127C-9986-32AC-ABA6-7C8323B33271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956874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C86882-91D5-E30B-CDA7-8347FDDFF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>
            <a:extLst>
              <a:ext uri="{FF2B5EF4-FFF2-40B4-BE49-F238E27FC236}">
                <a16:creationId xmlns:a16="http://schemas.microsoft.com/office/drawing/2014/main" id="{ABB68E14-0D97-6D3D-9800-C8F2EF0E79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02" name="Shape 502">
            <a:extLst>
              <a:ext uri="{FF2B5EF4-FFF2-40B4-BE49-F238E27FC236}">
                <a16:creationId xmlns:a16="http://schemas.microsoft.com/office/drawing/2014/main" id="{9791969B-46BF-1D96-2893-C97A92F67FC3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584418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3F45B-8B02-C5DD-D869-93034876B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>
            <a:extLst>
              <a:ext uri="{FF2B5EF4-FFF2-40B4-BE49-F238E27FC236}">
                <a16:creationId xmlns:a16="http://schemas.microsoft.com/office/drawing/2014/main" id="{AD5E7362-F7D3-FFB6-04DC-5636B37CC0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02" name="Shape 502">
            <a:extLst>
              <a:ext uri="{FF2B5EF4-FFF2-40B4-BE49-F238E27FC236}">
                <a16:creationId xmlns:a16="http://schemas.microsoft.com/office/drawing/2014/main" id="{E6C4D10E-6A8B-C14B-2663-3F8F2EB11C26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673302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BE4114-9B89-AA4D-2458-D97F667E1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>
            <a:extLst>
              <a:ext uri="{FF2B5EF4-FFF2-40B4-BE49-F238E27FC236}">
                <a16:creationId xmlns:a16="http://schemas.microsoft.com/office/drawing/2014/main" id="{02190088-3BA2-17A5-7904-AD57320021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02" name="Shape 502">
            <a:extLst>
              <a:ext uri="{FF2B5EF4-FFF2-40B4-BE49-F238E27FC236}">
                <a16:creationId xmlns:a16="http://schemas.microsoft.com/office/drawing/2014/main" id="{0AD0FBAF-AF1B-AAE1-C5CC-957B86E8FC73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640643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FEFFFE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FEFFFE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FEFFFE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FEFFFE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FEFFFE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4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Content with Capti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64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65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66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67" name="Title Text"/>
          <p:cNvSpPr txBox="1">
            <a:spLocks noGrp="1"/>
          </p:cNvSpPr>
          <p:nvPr>
            <p:ph type="title"/>
          </p:nvPr>
        </p:nvSpPr>
        <p:spPr>
          <a:xfrm>
            <a:off x="839787" y="702526"/>
            <a:ext cx="3932239" cy="1354874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68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85316" y="1304693"/>
            <a:ext cx="6170072" cy="455635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9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7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Picture with Capti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78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79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80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81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82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3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Blue background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869247" y="6400151"/>
            <a:ext cx="273610" cy="27752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Title Slide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99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100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101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102" name="Title Text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103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Title and Content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112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113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114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115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16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Section Header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125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126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127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128" name="Title Text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129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FEFFFE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FEFFFE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FEFFFE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FEFFFE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FEFFFE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Two Content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138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139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140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141" name="Title Text"/>
          <p:cNvSpPr txBox="1">
            <a:spLocks noGrp="1"/>
          </p:cNvSpPr>
          <p:nvPr>
            <p:ph type="title"/>
          </p:nvPr>
        </p:nvSpPr>
        <p:spPr>
          <a:xfrm>
            <a:off x="1039653" y="1153987"/>
            <a:ext cx="10112696" cy="92125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42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039653" y="2087361"/>
            <a:ext cx="4919546" cy="4089601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4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Title Only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165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166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167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168" name="Title Text"/>
          <p:cNvSpPr txBox="1">
            <a:spLocks noGrp="1"/>
          </p:cNvSpPr>
          <p:nvPr>
            <p:ph type="title"/>
          </p:nvPr>
        </p:nvSpPr>
        <p:spPr>
          <a:xfrm>
            <a:off x="1039653" y="1053628"/>
            <a:ext cx="10112696" cy="92125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6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Blank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177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178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179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18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Content with Capti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188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189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190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191" name="Title Text"/>
          <p:cNvSpPr txBox="1">
            <a:spLocks noGrp="1"/>
          </p:cNvSpPr>
          <p:nvPr>
            <p:ph type="title"/>
          </p:nvPr>
        </p:nvSpPr>
        <p:spPr>
          <a:xfrm>
            <a:off x="839787" y="702526"/>
            <a:ext cx="3932239" cy="1354874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192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85316" y="1304693"/>
            <a:ext cx="6170072" cy="455635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93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19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Picture with Capti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202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203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204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205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206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20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0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Blue background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869247" y="6400151"/>
            <a:ext cx="273610" cy="27752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itle Slide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223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224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225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226" name="Title Text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22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itle and Content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236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237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238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239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40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4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Section Header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249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250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251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252" name="Title Text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253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FEFFFE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FEFFFE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FEFFFE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FEFFFE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FEFFFE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5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Two Content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262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263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264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265" name="Title Text"/>
          <p:cNvSpPr txBox="1">
            <a:spLocks noGrp="1"/>
          </p:cNvSpPr>
          <p:nvPr>
            <p:ph type="title"/>
          </p:nvPr>
        </p:nvSpPr>
        <p:spPr>
          <a:xfrm>
            <a:off x="1039653" y="1153987"/>
            <a:ext cx="10112696" cy="92125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66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039653" y="2087361"/>
            <a:ext cx="4919546" cy="4089601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6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Comparis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275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276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277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27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039652" y="1987368"/>
            <a:ext cx="4957923" cy="597100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/>
            </a:lvl1pPr>
            <a:lvl2pPr marL="0" indent="457200">
              <a:buSzTx/>
              <a:buFontTx/>
              <a:buNone/>
              <a:defRPr sz="2400" b="1"/>
            </a:lvl2pPr>
            <a:lvl3pPr marL="0" indent="914400">
              <a:buSzTx/>
              <a:buFontTx/>
              <a:buNone/>
              <a:defRPr sz="2400" b="1"/>
            </a:lvl3pPr>
            <a:lvl4pPr marL="0" indent="1371600">
              <a:buSzTx/>
              <a:buFontTx/>
              <a:buNone/>
              <a:defRPr sz="2400" b="1"/>
            </a:lvl4pPr>
            <a:lvl5pPr marL="0" indent="1828800"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79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6172200" y="1987367"/>
            <a:ext cx="4980148" cy="601050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 b="1"/>
            </a:pPr>
            <a:endParaRPr/>
          </a:p>
        </p:txBody>
      </p:sp>
      <p:sp>
        <p:nvSpPr>
          <p:cNvPr id="280" name="Title Text"/>
          <p:cNvSpPr txBox="1">
            <a:spLocks noGrp="1"/>
          </p:cNvSpPr>
          <p:nvPr>
            <p:ph type="title"/>
          </p:nvPr>
        </p:nvSpPr>
        <p:spPr>
          <a:xfrm>
            <a:off x="1039653" y="1053628"/>
            <a:ext cx="10112696" cy="92125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8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itle Only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289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290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291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292" name="Title Text"/>
          <p:cNvSpPr txBox="1">
            <a:spLocks noGrp="1"/>
          </p:cNvSpPr>
          <p:nvPr>
            <p:ph type="title"/>
          </p:nvPr>
        </p:nvSpPr>
        <p:spPr>
          <a:xfrm>
            <a:off x="1039653" y="1053628"/>
            <a:ext cx="10112696" cy="92125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9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Blank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301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302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303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30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Content with Capti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312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313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314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315" name="Title Text"/>
          <p:cNvSpPr txBox="1">
            <a:spLocks noGrp="1"/>
          </p:cNvSpPr>
          <p:nvPr>
            <p:ph type="title"/>
          </p:nvPr>
        </p:nvSpPr>
        <p:spPr>
          <a:xfrm>
            <a:off x="839787" y="702526"/>
            <a:ext cx="3932239" cy="1354874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316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85316" y="1304693"/>
            <a:ext cx="6170072" cy="455635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7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31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Picture with Capti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5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326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327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328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329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330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331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3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Blue background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869247" y="6400151"/>
            <a:ext cx="273610" cy="27752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Slide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6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347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348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349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350" name="Title Text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351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5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9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360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361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362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363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64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373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374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375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376" name="Title Text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37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FEFFFE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FEFFFE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FEFFFE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FEFFFE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FEFFFE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7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Title Text"/>
          <p:cNvSpPr txBox="1">
            <a:spLocks noGrp="1"/>
          </p:cNvSpPr>
          <p:nvPr>
            <p:ph type="title"/>
          </p:nvPr>
        </p:nvSpPr>
        <p:spPr>
          <a:xfrm>
            <a:off x="1039653" y="1153987"/>
            <a:ext cx="10112696" cy="92125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86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039653" y="2087361"/>
            <a:ext cx="4919546" cy="4089601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8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4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395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396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397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39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039652" y="1987368"/>
            <a:ext cx="4957923" cy="597100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/>
            </a:lvl1pPr>
            <a:lvl2pPr marL="0" indent="457200">
              <a:buSzTx/>
              <a:buFontTx/>
              <a:buNone/>
              <a:defRPr sz="2400" b="1"/>
            </a:lvl2pPr>
            <a:lvl3pPr marL="0" indent="914400">
              <a:buSzTx/>
              <a:buFontTx/>
              <a:buNone/>
              <a:defRPr sz="2400" b="1"/>
            </a:lvl3pPr>
            <a:lvl4pPr marL="0" indent="1371600">
              <a:buSzTx/>
              <a:buFontTx/>
              <a:buNone/>
              <a:defRPr sz="2400" b="1"/>
            </a:lvl4pPr>
            <a:lvl5pPr marL="0" indent="1828800"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99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6172200" y="1987367"/>
            <a:ext cx="4980148" cy="601050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 b="1"/>
            </a:pPr>
            <a:endParaRPr/>
          </a:p>
        </p:txBody>
      </p:sp>
      <p:sp>
        <p:nvSpPr>
          <p:cNvPr id="400" name="Title Text"/>
          <p:cNvSpPr txBox="1">
            <a:spLocks noGrp="1"/>
          </p:cNvSpPr>
          <p:nvPr>
            <p:ph type="title"/>
          </p:nvPr>
        </p:nvSpPr>
        <p:spPr>
          <a:xfrm>
            <a:off x="1039653" y="1053628"/>
            <a:ext cx="10112696" cy="92125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0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8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409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410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411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412" name="Title Text"/>
          <p:cNvSpPr txBox="1">
            <a:spLocks noGrp="1"/>
          </p:cNvSpPr>
          <p:nvPr>
            <p:ph type="title"/>
          </p:nvPr>
        </p:nvSpPr>
        <p:spPr>
          <a:xfrm>
            <a:off x="1039653" y="1053628"/>
            <a:ext cx="10112696" cy="92125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0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421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422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423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42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1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432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433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434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435" name="Title Text"/>
          <p:cNvSpPr txBox="1">
            <a:spLocks noGrp="1"/>
          </p:cNvSpPr>
          <p:nvPr>
            <p:ph type="title"/>
          </p:nvPr>
        </p:nvSpPr>
        <p:spPr>
          <a:xfrm>
            <a:off x="839787" y="702526"/>
            <a:ext cx="3932239" cy="1354874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436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85316" y="1304693"/>
            <a:ext cx="6170072" cy="455635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37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43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5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446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447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448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449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450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451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5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ue background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869247" y="6400151"/>
            <a:ext cx="273610" cy="27752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478B4-4C54-AF5B-2929-7967B5D72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9653" y="1153987"/>
            <a:ext cx="10112695" cy="92125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E1BF71-B4F8-FDC2-D3CE-E4B9824A5A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39653" y="2087362"/>
            <a:ext cx="4919546" cy="4089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2507F9-B1BA-85ED-15EE-A276F4A788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32802" y="2087362"/>
            <a:ext cx="4919546" cy="40896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DB9351-FBE6-F588-FD07-6D67A6545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9315B8-57CD-1150-8FD7-9FACD2173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8E19A3-55D2-9FA5-AA5A-7331BF601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1449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dy Level One…"/>
          <p:cNvSpPr txBox="1">
            <a:spLocks noGrp="1"/>
          </p:cNvSpPr>
          <p:nvPr>
            <p:ph type="body" idx="1"/>
          </p:nvPr>
        </p:nvSpPr>
        <p:spPr>
          <a:xfrm>
            <a:off x="1049144" y="2007218"/>
            <a:ext cx="10093712" cy="41697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" name="Title Text"/>
          <p:cNvSpPr txBox="1">
            <a:spLocks noGrp="1"/>
          </p:cNvSpPr>
          <p:nvPr>
            <p:ph type="title"/>
          </p:nvPr>
        </p:nvSpPr>
        <p:spPr>
          <a:xfrm>
            <a:off x="1039653" y="1064778"/>
            <a:ext cx="10112696" cy="9212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884232" y="6414758"/>
            <a:ext cx="258625" cy="248306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4" r:id="rId12"/>
    <p:sldLayoutId id="2147483665" r:id="rId13"/>
    <p:sldLayoutId id="2147483666" r:id="rId14"/>
    <p:sldLayoutId id="2147483667" r:id="rId15"/>
    <p:sldLayoutId id="2147483668" r:id="rId16"/>
    <p:sldLayoutId id="2147483669" r:id="rId17"/>
    <p:sldLayoutId id="2147483670" r:id="rId18"/>
    <p:sldLayoutId id="2147483671" r:id="rId19"/>
    <p:sldLayoutId id="2147483672" r:id="rId20"/>
    <p:sldLayoutId id="2147483673" r:id="rId21"/>
    <p:sldLayoutId id="2147483674" r:id="rId22"/>
    <p:sldLayoutId id="2147483675" r:id="rId23"/>
    <p:sldLayoutId id="2147483676" r:id="rId24"/>
    <p:sldLayoutId id="2147483677" r:id="rId25"/>
    <p:sldLayoutId id="2147483678" r:id="rId26"/>
    <p:sldLayoutId id="2147483679" r:id="rId27"/>
    <p:sldLayoutId id="2147483680" r:id="rId28"/>
    <p:sldLayoutId id="2147483681" r:id="rId29"/>
    <p:sldLayoutId id="2147483682" r:id="rId30"/>
    <p:sldLayoutId id="2147483683" r:id="rId31"/>
    <p:sldLayoutId id="2147483684" r:id="rId32"/>
    <p:sldLayoutId id="2147483685" r:id="rId33"/>
    <p:sldLayoutId id="2147483686" r:id="rId34"/>
    <p:sldLayoutId id="2147483687" r:id="rId35"/>
    <p:sldLayoutId id="2147483688" r:id="rId36"/>
    <p:sldLayoutId id="2147483689" r:id="rId37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C837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C837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C837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C837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C837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C837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C837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C837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C837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FFFFFF"/>
          </a:solidFill>
          <a:uFillTx/>
          <a:latin typeface="+mj-lt"/>
          <a:ea typeface="+mj-ea"/>
          <a:cs typeface="+mj-cs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FFFFFF"/>
          </a:solidFill>
          <a:uFillTx/>
          <a:latin typeface="+mj-lt"/>
          <a:ea typeface="+mj-ea"/>
          <a:cs typeface="+mj-cs"/>
          <a:sym typeface="Calibri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FFFFFF"/>
          </a:solidFill>
          <a:uFillTx/>
          <a:latin typeface="+mj-lt"/>
          <a:ea typeface="+mj-ea"/>
          <a:cs typeface="+mj-cs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FFFFFF"/>
          </a:solidFill>
          <a:uFillTx/>
          <a:latin typeface="+mj-lt"/>
          <a:ea typeface="+mj-ea"/>
          <a:cs typeface="+mj-cs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FFFFFF"/>
          </a:solidFill>
          <a:uFillTx/>
          <a:latin typeface="+mj-lt"/>
          <a:ea typeface="+mj-ea"/>
          <a:cs typeface="+mj-cs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FFFFFF"/>
          </a:solidFill>
          <a:uFillTx/>
          <a:latin typeface="+mj-lt"/>
          <a:ea typeface="+mj-ea"/>
          <a:cs typeface="+mj-cs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FFFFFF"/>
          </a:solidFill>
          <a:uFillTx/>
          <a:latin typeface="+mj-lt"/>
          <a:ea typeface="+mj-ea"/>
          <a:cs typeface="+mj-cs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FFFFFF"/>
          </a:solidFill>
          <a:uFillTx/>
          <a:latin typeface="+mj-lt"/>
          <a:ea typeface="+mj-ea"/>
          <a:cs typeface="+mj-cs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FFFFFF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.png"/><Relationship Id="rId3" Type="http://schemas.openxmlformats.org/officeDocument/2006/relationships/customXml" Target="../ink/ink1.xml"/><Relationship Id="rId12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0.xml"/><Relationship Id="rId11" Type="http://schemas.openxmlformats.org/officeDocument/2006/relationships/image" Target="../media/image17.png"/><Relationship Id="rId15" Type="http://schemas.openxmlformats.org/officeDocument/2006/relationships/image" Target="../media/image12.png"/><Relationship Id="rId10" Type="http://schemas.openxmlformats.org/officeDocument/2006/relationships/customXml" Target="../ink/ink2.xml"/><Relationship Id="rId9" Type="http://schemas.openxmlformats.org/officeDocument/2006/relationships/image" Target="../media/image14.png"/><Relationship Id="rId1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.png"/><Relationship Id="rId3" Type="http://schemas.openxmlformats.org/officeDocument/2006/relationships/customXml" Target="../ink/ink3.xml"/><Relationship Id="rId12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0.xml"/><Relationship Id="rId11" Type="http://schemas.openxmlformats.org/officeDocument/2006/relationships/image" Target="../media/image17.png"/><Relationship Id="rId10" Type="http://schemas.openxmlformats.org/officeDocument/2006/relationships/customXml" Target="../ink/ink4.xml"/><Relationship Id="rId9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.png"/><Relationship Id="rId3" Type="http://schemas.openxmlformats.org/officeDocument/2006/relationships/customXml" Target="../ink/ink5.xml"/><Relationship Id="rId12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0.xml"/><Relationship Id="rId11" Type="http://schemas.openxmlformats.org/officeDocument/2006/relationships/image" Target="../media/image17.png"/><Relationship Id="rId10" Type="http://schemas.openxmlformats.org/officeDocument/2006/relationships/customXml" Target="../ink/ink6.xml"/><Relationship Id="rId9" Type="http://schemas.openxmlformats.org/officeDocument/2006/relationships/image" Target="../media/image14.png"/><Relationship Id="rId1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.png"/><Relationship Id="rId3" Type="http://schemas.openxmlformats.org/officeDocument/2006/relationships/customXml" Target="../ink/ink7.xml"/><Relationship Id="rId12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0.xml"/><Relationship Id="rId11" Type="http://schemas.openxmlformats.org/officeDocument/2006/relationships/image" Target="../media/image17.png"/><Relationship Id="rId10" Type="http://schemas.openxmlformats.org/officeDocument/2006/relationships/customXml" Target="../ink/ink8.xml"/><Relationship Id="rId9" Type="http://schemas.openxmlformats.org/officeDocument/2006/relationships/image" Target="../media/image14.png"/><Relationship Id="rId1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.png"/><Relationship Id="rId3" Type="http://schemas.openxmlformats.org/officeDocument/2006/relationships/customXml" Target="../ink/ink9.xml"/><Relationship Id="rId12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0.xml"/><Relationship Id="rId11" Type="http://schemas.openxmlformats.org/officeDocument/2006/relationships/image" Target="../media/image17.png"/><Relationship Id="rId15" Type="http://schemas.openxmlformats.org/officeDocument/2006/relationships/image" Target="../media/image18.png"/><Relationship Id="rId10" Type="http://schemas.openxmlformats.org/officeDocument/2006/relationships/customXml" Target="../ink/ink10.xml"/><Relationship Id="rId9" Type="http://schemas.openxmlformats.org/officeDocument/2006/relationships/image" Target="../media/image14.png"/><Relationship Id="rId1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.png"/><Relationship Id="rId3" Type="http://schemas.openxmlformats.org/officeDocument/2006/relationships/customXml" Target="../ink/ink11.xml"/><Relationship Id="rId12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21.png"/><Relationship Id="rId1" Type="http://schemas.openxmlformats.org/officeDocument/2006/relationships/slideLayout" Target="../slideLayouts/slideLayout30.xml"/><Relationship Id="rId11" Type="http://schemas.openxmlformats.org/officeDocument/2006/relationships/image" Target="../media/image17.png"/><Relationship Id="rId15" Type="http://schemas.openxmlformats.org/officeDocument/2006/relationships/image" Target="../media/image20.png"/><Relationship Id="rId10" Type="http://schemas.openxmlformats.org/officeDocument/2006/relationships/customXml" Target="../ink/ink12.xml"/><Relationship Id="rId9" Type="http://schemas.openxmlformats.org/officeDocument/2006/relationships/image" Target="../media/image14.png"/><Relationship Id="rId1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.png"/><Relationship Id="rId3" Type="http://schemas.openxmlformats.org/officeDocument/2006/relationships/customXml" Target="../ink/ink13.xml"/><Relationship Id="rId12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0.xml"/><Relationship Id="rId11" Type="http://schemas.openxmlformats.org/officeDocument/2006/relationships/image" Target="../media/image17.png"/><Relationship Id="rId10" Type="http://schemas.openxmlformats.org/officeDocument/2006/relationships/customXml" Target="../ink/ink14.xml"/><Relationship Id="rId9" Type="http://schemas.openxmlformats.org/officeDocument/2006/relationships/image" Target="../media/image14.png"/><Relationship Id="rId1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F2B76E6-D951-3835-676B-70686EF8C2F3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 descr="UNDP ve Samsung'un kadınlara yönelik yapay zeka sınıfı ilk mezunlarını  verdi | United Nations Development Programme">
            <a:extLst>
              <a:ext uri="{FF2B5EF4-FFF2-40B4-BE49-F238E27FC236}">
                <a16:creationId xmlns:a16="http://schemas.microsoft.com/office/drawing/2014/main" id="{920910B4-C648-91B9-56BA-B826DB8C00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 new generation…">
            <a:extLst>
              <a:ext uri="{FF2B5EF4-FFF2-40B4-BE49-F238E27FC236}">
                <a16:creationId xmlns:a16="http://schemas.microsoft.com/office/drawing/2014/main" id="{DC7A9B64-AA84-4ACD-D44E-416503901C71}"/>
              </a:ext>
            </a:extLst>
          </p:cNvPr>
          <p:cNvSpPr txBox="1"/>
          <p:nvPr/>
        </p:nvSpPr>
        <p:spPr>
          <a:xfrm>
            <a:off x="349878" y="3821112"/>
            <a:ext cx="5746122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tIns="45720" rIns="45719" bIns="45720" anchor="t">
            <a:spAutoFit/>
          </a:bodyPr>
          <a:lstStyle/>
          <a:p>
            <a:pPr algn="ctr" defTabSz="457200">
              <a:defRPr sz="3700">
                <a:solidFill>
                  <a:srgbClr val="FFFFFF"/>
                </a:solidFill>
                <a:latin typeface="Myriad Pro Semibold"/>
                <a:ea typeface="Myriad Pro Semibold"/>
                <a:cs typeface="Myriad Pro Semibold"/>
                <a:sym typeface="Myriad Pro Semibold"/>
              </a:defRPr>
            </a:pPr>
            <a:r>
              <a:rPr lang="en-US" sz="2400" b="1" dirty="0">
                <a:solidFill>
                  <a:schemeClr val="tx1"/>
                </a:solidFill>
                <a:latin typeface="Microsoft YaHei"/>
              </a:rPr>
              <a:t>Water Access &amp; Mortality Prediction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5E3BB0-0309-333E-C678-4E1763CDF22E}"/>
              </a:ext>
            </a:extLst>
          </p:cNvPr>
          <p:cNvSpPr txBox="1"/>
          <p:nvPr/>
        </p:nvSpPr>
        <p:spPr>
          <a:xfrm>
            <a:off x="349878" y="4877891"/>
            <a:ext cx="6283234" cy="923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dirty="0"/>
              <a:t>Yasemin Elizabeth Jones – 22069915</a:t>
            </a:r>
            <a:br>
              <a:rPr lang="en-US" dirty="0"/>
            </a:br>
            <a:r>
              <a:rPr lang="en-US" dirty="0"/>
              <a:t>Zaki Ghali -- 21069936</a:t>
            </a:r>
            <a:br>
              <a:rPr lang="en-US" dirty="0"/>
            </a:br>
            <a:r>
              <a:rPr lang="en-US" dirty="0"/>
              <a:t>Fahrettin Erkin Avcı</a:t>
            </a:r>
            <a:endParaRPr lang="ar-SY" dirty="0"/>
          </a:p>
        </p:txBody>
      </p:sp>
    </p:spTree>
    <p:extLst>
      <p:ext uri="{BB962C8B-B14F-4D97-AF65-F5344CB8AC3E}">
        <p14:creationId xmlns:p14="http://schemas.microsoft.com/office/powerpoint/2010/main" val="2988049007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Title 1"/>
          <p:cNvSpPr txBox="1">
            <a:spLocks noGrp="1"/>
          </p:cNvSpPr>
          <p:nvPr>
            <p:ph type="title"/>
          </p:nvPr>
        </p:nvSpPr>
        <p:spPr>
          <a:xfrm>
            <a:off x="640854" y="1629976"/>
            <a:ext cx="7756075" cy="869546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 defTabSz="795527">
              <a:defRPr sz="3393">
                <a:solidFill>
                  <a:srgbClr val="383838"/>
                </a:solidFill>
                <a:latin typeface="Merriweather Sans Regular"/>
                <a:ea typeface="Merriweather Sans Regular"/>
                <a:cs typeface="Merriweather Sans Regular"/>
                <a:sym typeface="Merriweather Sans Regular"/>
              </a:defRPr>
            </a:pPr>
            <a:r>
              <a:rPr lang="tr-TR" sz="3350" b="1" dirty="0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Background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14:cNvPr>
              <p14:cNvContentPartPr/>
              <p14:nvPr/>
            </p14:nvContentPartPr>
            <p14:xfrm>
              <a:off x="9907437" y="716254"/>
              <a:ext cx="13252" cy="13252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244837" y="53654"/>
                <a:ext cx="1325200" cy="13252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Rectangle">
            <a:extLst>
              <a:ext uri="{FF2B5EF4-FFF2-40B4-BE49-F238E27FC236}">
                <a16:creationId xmlns:a16="http://schemas.microsoft.com/office/drawing/2014/main" id="{6463E1D9-6206-CBC0-0B9A-EEBAB7E390DF}"/>
              </a:ext>
            </a:extLst>
          </p:cNvPr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14:cNvPr>
              <p14:cNvContentPartPr/>
              <p14:nvPr/>
            </p14:nvContentPartPr>
            <p14:xfrm>
              <a:off x="1100137" y="565105"/>
              <a:ext cx="13252" cy="13252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9270" y="517776"/>
                <a:ext cx="450568" cy="106963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D2A510B2-9281-819E-67DF-19F4FCE5432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534778" y="0"/>
            <a:ext cx="2657222" cy="11785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DD7B6D0-FF78-870E-52CA-8E737ADD32F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6118" y="2251881"/>
            <a:ext cx="3838069" cy="56850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3A7BC30-D2F1-06A9-D22C-3794449ACA5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-2720" y="6663074"/>
            <a:ext cx="12194720" cy="243885"/>
          </a:xfrm>
          <a:prstGeom prst="rect">
            <a:avLst/>
          </a:prstGeom>
        </p:spPr>
      </p:pic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045B4A1-D97F-56DF-3438-B9F213A32FBD}"/>
              </a:ext>
            </a:extLst>
          </p:cNvPr>
          <p:cNvSpPr txBox="1">
            <a:spLocks/>
          </p:cNvSpPr>
          <p:nvPr/>
        </p:nvSpPr>
        <p:spPr>
          <a:xfrm>
            <a:off x="640854" y="2947710"/>
            <a:ext cx="6599082" cy="35549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tIns="45720" rIns="45719" bIns="45720" anchor="ctr">
            <a:noAutofit/>
          </a:bodyPr>
          <a:lstStyle>
            <a:lvl1pPr marL="228600" marR="0" indent="-228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723900" marR="0" indent="-2667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1234439" marR="0" indent="-320039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1727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21844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26416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30988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35560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4013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hangingPunct="1"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1800" dirty="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rPr>
              <a:t>This project investigates the relationship between water access quality and mortality rates across countries</a:t>
            </a:r>
            <a:endParaRPr lang="en-US" sz="1800" dirty="0">
              <a:solidFill>
                <a:srgbClr val="000000"/>
              </a:solidFill>
              <a:latin typeface="Microsoft YaHei Light"/>
              <a:ea typeface="Merriweather Sans Light"/>
              <a:cs typeface="Merriweather Sans Light"/>
              <a:sym typeface="Merriweather Sans Light"/>
            </a:endParaRPr>
          </a:p>
          <a:p>
            <a:pPr hangingPunct="1"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1800" b="1" dirty="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rPr>
              <a:t>3 datasets merged: WHO/UNICEF JMP water tiers, World Bank Mortality rate attributed to unsafe water &amp; GDP per capita</a:t>
            </a:r>
          </a:p>
          <a:p>
            <a:pPr hangingPunct="1"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1600" dirty="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rPr>
              <a:t>Access to clean and safely managed water is directly connected to public health. By predicting whether a country has high or low mortality risk, the project can help identify countries where water infrastructure improvements may have the greatest impact.</a:t>
            </a:r>
            <a:endParaRPr lang="en-US" sz="1600" dirty="0">
              <a:solidFill>
                <a:srgbClr val="000000"/>
              </a:solidFill>
              <a:latin typeface="Microsoft YaHei Light"/>
              <a:ea typeface="Merriweather Sans Light"/>
              <a:cs typeface="Merriweather Sans Light"/>
              <a:sym typeface="Merriweather Sans Ligh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0F8471-8C9A-A213-6C78-C1B790E25423}"/>
              </a:ext>
            </a:extLst>
          </p:cNvPr>
          <p:cNvSpPr txBox="1"/>
          <p:nvPr/>
        </p:nvSpPr>
        <p:spPr>
          <a:xfrm>
            <a:off x="7017042" y="6319490"/>
            <a:ext cx="5780789" cy="5874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20000"/>
              </a:lnSpc>
              <a:defRPr sz="1400">
                <a:solidFill>
                  <a:srgbClr val="000000"/>
                </a:solidFill>
                <a:latin typeface="Microsoft YaHei"/>
              </a:defRPr>
            </a:lvl1pPr>
          </a:lstStyle>
          <a:p>
            <a:r>
              <a:rPr lang="en-US" dirty="0"/>
              <a:t>177 countries  |  6 water service levels  |  1 mortality target</a:t>
            </a:r>
          </a:p>
          <a:p>
            <a:endParaRPr lang="en-US" dirty="0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6A35E2B9-F14E-6525-BD20-4B5B439F4C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9613" y="1124380"/>
            <a:ext cx="3390899" cy="24121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B3A12B46-CAE5-A421-76FB-DD53CBD784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9613" y="3551141"/>
            <a:ext cx="3213979" cy="26127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3211234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42393-56A6-FAE8-1009-785389D12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Title 1">
            <a:extLst>
              <a:ext uri="{FF2B5EF4-FFF2-40B4-BE49-F238E27FC236}">
                <a16:creationId xmlns:a16="http://schemas.microsoft.com/office/drawing/2014/main" id="{3CDE49FA-4ED4-92FF-9B15-8A1FC226349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0854" y="1629976"/>
            <a:ext cx="7756075" cy="869546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 defTabSz="795527">
              <a:defRPr sz="3393">
                <a:solidFill>
                  <a:srgbClr val="383838"/>
                </a:solidFill>
                <a:latin typeface="Merriweather Sans Regular"/>
                <a:ea typeface="Merriweather Sans Regular"/>
                <a:cs typeface="Merriweather Sans Regular"/>
                <a:sym typeface="Merriweather Sans Regular"/>
              </a:defRPr>
            </a:pPr>
            <a:r>
              <a:rPr lang="tr-TR" sz="3350" b="1" dirty="0" err="1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Objectives</a:t>
            </a:r>
            <a:endParaRPr lang="tr-TR" sz="3350" b="1" dirty="0">
              <a:solidFill>
                <a:schemeClr val="bg1"/>
              </a:solidFill>
              <a:latin typeface="Microsoft YaHei"/>
              <a:ea typeface="Merriweather Sans Regular ExtraBold"/>
              <a:cs typeface="Merriweather Sans Regular ExtraBold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631C23E8-AF93-8A70-2D86-5AF75855BF81}"/>
                  </a:ext>
                </a:extLst>
              </p14:cNvPr>
              <p14:cNvContentPartPr/>
              <p14:nvPr/>
            </p14:nvContentPartPr>
            <p14:xfrm>
              <a:off x="9907437" y="716254"/>
              <a:ext cx="13252" cy="13252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244837" y="53654"/>
                <a:ext cx="1325200" cy="13252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Rectangle">
            <a:extLst>
              <a:ext uri="{FF2B5EF4-FFF2-40B4-BE49-F238E27FC236}">
                <a16:creationId xmlns:a16="http://schemas.microsoft.com/office/drawing/2014/main" id="{1DEC7F4A-9AF5-9B1E-EE6C-E2D759FD5AF7}"/>
              </a:ext>
            </a:extLst>
          </p:cNvPr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EA39268B-7D38-CD57-38E3-7DCF2634103B}"/>
                  </a:ext>
                </a:extLst>
              </p14:cNvPr>
              <p14:cNvContentPartPr/>
              <p14:nvPr/>
            </p14:nvContentPartPr>
            <p14:xfrm>
              <a:off x="1100137" y="565105"/>
              <a:ext cx="13252" cy="13252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9270" y="517776"/>
                <a:ext cx="450568" cy="106963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5A8A9D22-A74F-66E8-F75E-965360ECD29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534778" y="0"/>
            <a:ext cx="2657222" cy="11785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BA47BD7-F3B5-FB10-54F2-4B600756EC5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6118" y="2251881"/>
            <a:ext cx="3838069" cy="56850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6669068-0841-8EB1-FE09-87C9F0089A6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-2720" y="6663074"/>
            <a:ext cx="12194720" cy="243885"/>
          </a:xfrm>
          <a:prstGeom prst="rect">
            <a:avLst/>
          </a:prstGeom>
        </p:spPr>
      </p:pic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038078A0-7F8B-6FE6-4A7C-EB3099A77609}"/>
              </a:ext>
            </a:extLst>
          </p:cNvPr>
          <p:cNvSpPr txBox="1">
            <a:spLocks/>
          </p:cNvSpPr>
          <p:nvPr/>
        </p:nvSpPr>
        <p:spPr>
          <a:xfrm>
            <a:off x="381980" y="2994672"/>
            <a:ext cx="7756075" cy="31732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tIns="45720" rIns="45719" bIns="45720" anchor="ctr">
            <a:normAutofit/>
          </a:bodyPr>
          <a:lstStyle>
            <a:lvl1pPr marL="228600" marR="0" indent="-228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723900" marR="0" indent="-2667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1234439" marR="0" indent="-320039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1727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21844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26416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30988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35560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4013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marL="0" indent="0" hangingPunct="1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1A1A2E"/>
                </a:solidFill>
                <a:latin typeface="Microsoft YaHei"/>
              </a:rPr>
              <a:t>How do water service profiles and GDP influence global mortality risk?</a:t>
            </a:r>
            <a:endParaRPr lang="en-US" sz="1400" dirty="0"/>
          </a:p>
          <a:p>
            <a:pPr hangingPunct="1">
              <a:lnSpc>
                <a:spcPct val="120000"/>
              </a:lnSpc>
            </a:pPr>
            <a:r>
              <a:rPr lang="en-US" sz="1500" dirty="0">
                <a:solidFill>
                  <a:srgbClr val="000000"/>
                </a:solidFill>
                <a:latin typeface="Microsoft YaHei"/>
              </a:rPr>
              <a:t>1 ) Binary Classification: Predict High vs. Low mortality</a:t>
            </a:r>
            <a:endParaRPr lang="en-US" sz="1400" dirty="0"/>
          </a:p>
          <a:p>
            <a:pPr hangingPunct="1">
              <a:lnSpc>
                <a:spcPct val="120000"/>
              </a:lnSpc>
            </a:pPr>
            <a:r>
              <a:rPr lang="en-US" sz="1500" dirty="0">
                <a:solidFill>
                  <a:srgbClr val="000000"/>
                </a:solidFill>
                <a:latin typeface="Microsoft YaHei"/>
              </a:rPr>
              <a:t>2 ) Regression Extension: Predict the exact continuous mortality rate</a:t>
            </a:r>
            <a:endParaRPr lang="en-US" sz="1400" dirty="0"/>
          </a:p>
          <a:p>
            <a:pPr hangingPunct="1">
              <a:lnSpc>
                <a:spcPct val="120000"/>
              </a:lnSpc>
            </a:pPr>
            <a:r>
              <a:rPr lang="en-US" sz="1500" dirty="0">
                <a:solidFill>
                  <a:srgbClr val="000000"/>
                </a:solidFill>
                <a:latin typeface="Microsoft YaHei"/>
              </a:rPr>
              <a:t>3  Feature Importance: Identify which water tier drives mortality risk most</a:t>
            </a:r>
          </a:p>
          <a:p>
            <a:pPr hangingPunct="1">
              <a:lnSpc>
                <a:spcPct val="80000"/>
              </a:lnSpc>
            </a:pPr>
            <a:endParaRPr lang="en-US" sz="1400" dirty="0"/>
          </a:p>
          <a:p>
            <a:pPr hangingPunct="1">
              <a:lnSpc>
                <a:spcPct val="120000"/>
              </a:lnSpc>
            </a:pPr>
            <a:r>
              <a:rPr lang="en-US" sz="1400" dirty="0">
                <a:solidFill>
                  <a:srgbClr val="7030A0"/>
                </a:solidFill>
                <a:latin typeface="Microsoft YaHei"/>
              </a:rPr>
              <a:t>Linked to SDG 3 (Health) and SDG 6 (Clean Water)</a:t>
            </a:r>
          </a:p>
        </p:txBody>
      </p:sp>
    </p:spTree>
    <p:extLst>
      <p:ext uri="{BB962C8B-B14F-4D97-AF65-F5344CB8AC3E}">
        <p14:creationId xmlns:p14="http://schemas.microsoft.com/office/powerpoint/2010/main" val="2552564427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74921-5571-7077-D240-6CD9712EE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Title 1">
            <a:extLst>
              <a:ext uri="{FF2B5EF4-FFF2-40B4-BE49-F238E27FC236}">
                <a16:creationId xmlns:a16="http://schemas.microsoft.com/office/drawing/2014/main" id="{703BC68D-2B86-F903-1E3D-7D0510EC72D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0854" y="1629976"/>
            <a:ext cx="7756075" cy="869546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 defTabSz="795527">
              <a:defRPr sz="3393">
                <a:solidFill>
                  <a:srgbClr val="383838"/>
                </a:solidFill>
                <a:latin typeface="Merriweather Sans Regular"/>
                <a:ea typeface="Merriweather Sans Regular"/>
                <a:cs typeface="Merriweather Sans Regular"/>
                <a:sym typeface="Merriweather Sans Regular"/>
              </a:defRPr>
            </a:pPr>
            <a:r>
              <a:rPr lang="tr-TR" sz="3350" b="1" dirty="0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SDG </a:t>
            </a:r>
            <a:r>
              <a:rPr lang="tr-TR" sz="3350" b="1" dirty="0" err="1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Relation</a:t>
            </a:r>
            <a:endParaRPr lang="tr-TR" sz="3350" b="1" dirty="0">
              <a:solidFill>
                <a:schemeClr val="bg1"/>
              </a:solidFill>
              <a:latin typeface="Microsoft YaHei"/>
              <a:ea typeface="Merriweather Sans Regular ExtraBold"/>
              <a:cs typeface="Merriweather Sans Regular ExtraBold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A0911266-561D-F218-121A-7BE110544FEB}"/>
                  </a:ext>
                </a:extLst>
              </p14:cNvPr>
              <p14:cNvContentPartPr/>
              <p14:nvPr/>
            </p14:nvContentPartPr>
            <p14:xfrm>
              <a:off x="9907437" y="716254"/>
              <a:ext cx="13252" cy="13252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244837" y="53654"/>
                <a:ext cx="1325200" cy="13252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Rectangle">
            <a:extLst>
              <a:ext uri="{FF2B5EF4-FFF2-40B4-BE49-F238E27FC236}">
                <a16:creationId xmlns:a16="http://schemas.microsoft.com/office/drawing/2014/main" id="{5C0F4950-A704-2BB1-5275-A1199F349DA4}"/>
              </a:ext>
            </a:extLst>
          </p:cNvPr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C8E2302A-B3FE-DFFB-2B98-ABF3A3D18271}"/>
                  </a:ext>
                </a:extLst>
              </p14:cNvPr>
              <p14:cNvContentPartPr/>
              <p14:nvPr/>
            </p14:nvContentPartPr>
            <p14:xfrm>
              <a:off x="1100137" y="565105"/>
              <a:ext cx="13252" cy="13252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9270" y="517776"/>
                <a:ext cx="450568" cy="106963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5DD63C00-D6E8-BFFE-6786-7035ADDA026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534778" y="0"/>
            <a:ext cx="2657222" cy="11785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D002445-DED0-BF6F-2AB5-FBBBF88B75D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6118" y="2251881"/>
            <a:ext cx="3838069" cy="56850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E38D44E-A43F-E916-3BAE-7FB4252E1C4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-2720" y="6663074"/>
            <a:ext cx="12194720" cy="243885"/>
          </a:xfrm>
          <a:prstGeom prst="rect">
            <a:avLst/>
          </a:prstGeom>
        </p:spPr>
      </p:pic>
      <p:pic>
        <p:nvPicPr>
          <p:cNvPr id="2" name="Picture 2" descr="Media and SDGs 3 and 6">
            <a:extLst>
              <a:ext uri="{FF2B5EF4-FFF2-40B4-BE49-F238E27FC236}">
                <a16:creationId xmlns:a16="http://schemas.microsoft.com/office/drawing/2014/main" id="{335484E9-8A7C-B2F8-C4F5-6229BFBD14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3187" y="2008852"/>
            <a:ext cx="4533871" cy="3333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20D1611-D4E8-70A5-A4E2-D114DBCB731C}"/>
              </a:ext>
            </a:extLst>
          </p:cNvPr>
          <p:cNvSpPr txBox="1">
            <a:spLocks/>
          </p:cNvSpPr>
          <p:nvPr/>
        </p:nvSpPr>
        <p:spPr>
          <a:xfrm>
            <a:off x="640854" y="2951018"/>
            <a:ext cx="6792333" cy="31732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tIns="45720" rIns="45719" bIns="45720" anchor="ctr">
            <a:normAutofit fontScale="92500" lnSpcReduction="10000"/>
          </a:bodyPr>
          <a:lstStyle>
            <a:lvl1pPr marL="228600" marR="0" indent="-228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723900" marR="0" indent="-2667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1234439" marR="0" indent="-320039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1727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21844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26416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30988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35560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4013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hangingPunct="1">
              <a:lnSpc>
                <a:spcPct val="120000"/>
              </a:lnSpc>
            </a:pPr>
            <a:r>
              <a:rPr lang="en-US" sz="1800" b="1" dirty="0">
                <a:solidFill>
                  <a:srgbClr val="1A1A2E"/>
                </a:solidFill>
                <a:latin typeface="Microsoft YaHei"/>
              </a:rPr>
              <a:t>SDG 6: Clean Water &amp; Sanitation</a:t>
            </a:r>
          </a:p>
          <a:p>
            <a:pPr hangingPunct="1">
              <a:lnSpc>
                <a:spcPct val="80000"/>
              </a:lnSpc>
            </a:pPr>
            <a:endParaRPr lang="en-US" sz="1400" dirty="0"/>
          </a:p>
          <a:p>
            <a:pPr hangingPunct="1">
              <a:lnSpc>
                <a:spcPct val="120000"/>
              </a:lnSpc>
            </a:pPr>
            <a:r>
              <a:rPr lang="en-US" sz="1500" dirty="0">
                <a:solidFill>
                  <a:srgbClr val="000000"/>
                </a:solidFill>
                <a:latin typeface="Microsoft YaHei"/>
              </a:rPr>
              <a:t>Low-income countries average only 20.9% safely managed water coverage vs. 95.6% in high-income countries</a:t>
            </a:r>
          </a:p>
          <a:p>
            <a:pPr hangingPunct="1">
              <a:lnSpc>
                <a:spcPct val="80000"/>
              </a:lnSpc>
            </a:pPr>
            <a:endParaRPr lang="en-US" sz="1400" dirty="0"/>
          </a:p>
          <a:p>
            <a:pPr hangingPunct="1">
              <a:lnSpc>
                <a:spcPct val="120000"/>
              </a:lnSpc>
            </a:pPr>
            <a:r>
              <a:rPr lang="en-US" sz="1800" b="1" dirty="0">
                <a:solidFill>
                  <a:srgbClr val="1A1A2E"/>
                </a:solidFill>
                <a:latin typeface="Microsoft YaHei"/>
              </a:rPr>
              <a:t>SDG 3: Good Health &amp; Well-Being</a:t>
            </a:r>
          </a:p>
          <a:p>
            <a:pPr hangingPunct="1">
              <a:lnSpc>
                <a:spcPct val="80000"/>
              </a:lnSpc>
            </a:pPr>
            <a:endParaRPr lang="en-US" sz="1400" dirty="0"/>
          </a:p>
          <a:p>
            <a:pPr hangingPunct="1">
              <a:lnSpc>
                <a:spcPct val="120000"/>
              </a:lnSpc>
            </a:pPr>
            <a:r>
              <a:rPr lang="en-US" sz="1500" dirty="0">
                <a:solidFill>
                  <a:srgbClr val="000000"/>
                </a:solidFill>
                <a:latin typeface="Microsoft YaHei"/>
              </a:rPr>
              <a:t>Low-income countries: around 50 deaths per 1,000 births  |  High-income countries: around 4 deaths per 1,000 births</a:t>
            </a:r>
          </a:p>
          <a:p>
            <a:pPr marL="0" indent="0" hangingPunct="1">
              <a:lnSpc>
                <a:spcPct val="120000"/>
              </a:lnSpc>
              <a:buNone/>
            </a:pPr>
            <a:r>
              <a:rPr lang="en-US" sz="1400" dirty="0">
                <a:solidFill>
                  <a:srgbClr val="555555"/>
                </a:solidFill>
                <a:latin typeface="Microsoft YaHe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85113646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2EE2B-4051-FD73-F177-2393B2FBC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Title 1">
            <a:extLst>
              <a:ext uri="{FF2B5EF4-FFF2-40B4-BE49-F238E27FC236}">
                <a16:creationId xmlns:a16="http://schemas.microsoft.com/office/drawing/2014/main" id="{21FEEF04-43E8-C2E1-AA49-27BDBBEDA84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0854" y="1629976"/>
            <a:ext cx="7756075" cy="869546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 defTabSz="795527">
              <a:defRPr sz="3393">
                <a:solidFill>
                  <a:srgbClr val="383838"/>
                </a:solidFill>
                <a:latin typeface="Merriweather Sans Regular"/>
                <a:ea typeface="Merriweather Sans Regular"/>
                <a:cs typeface="Merriweather Sans Regular"/>
                <a:sym typeface="Merriweather Sans Regular"/>
              </a:defRPr>
            </a:pPr>
            <a:r>
              <a:rPr lang="tr-TR" sz="3350" b="1" dirty="0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Data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99E654A3-8FAB-54A5-9370-FCEA74EFC646}"/>
                  </a:ext>
                </a:extLst>
              </p14:cNvPr>
              <p14:cNvContentPartPr/>
              <p14:nvPr/>
            </p14:nvContentPartPr>
            <p14:xfrm>
              <a:off x="9907437" y="716254"/>
              <a:ext cx="13252" cy="13252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244837" y="53654"/>
                <a:ext cx="1325200" cy="13252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Rectangle">
            <a:extLst>
              <a:ext uri="{FF2B5EF4-FFF2-40B4-BE49-F238E27FC236}">
                <a16:creationId xmlns:a16="http://schemas.microsoft.com/office/drawing/2014/main" id="{60B56A6F-0668-11B2-348C-1408265457BE}"/>
              </a:ext>
            </a:extLst>
          </p:cNvPr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11E2DB7E-598F-2F84-76FF-939142FCDABF}"/>
                  </a:ext>
                </a:extLst>
              </p14:cNvPr>
              <p14:cNvContentPartPr/>
              <p14:nvPr/>
            </p14:nvContentPartPr>
            <p14:xfrm>
              <a:off x="1100137" y="565105"/>
              <a:ext cx="13252" cy="13252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9270" y="517776"/>
                <a:ext cx="450568" cy="106963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434FD5BD-0FCF-C116-1612-EF7BF26F10E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534778" y="0"/>
            <a:ext cx="2657222" cy="11785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7919316-4BA8-B4AC-341E-E49251BB2B0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6118" y="2251881"/>
            <a:ext cx="3838069" cy="56850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32B3A5C-05A4-75FB-F371-76329ED8400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-2720" y="6663074"/>
            <a:ext cx="12194720" cy="243885"/>
          </a:xfrm>
          <a:prstGeom prst="rect">
            <a:avLst/>
          </a:prstGeom>
        </p:spPr>
      </p:pic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FC5C1766-FF9B-7CF5-BE3E-7CBCC21A7FCE}"/>
              </a:ext>
            </a:extLst>
          </p:cNvPr>
          <p:cNvSpPr txBox="1">
            <a:spLocks/>
          </p:cNvSpPr>
          <p:nvPr/>
        </p:nvSpPr>
        <p:spPr>
          <a:xfrm>
            <a:off x="116868" y="2982285"/>
            <a:ext cx="7611287" cy="31732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tIns="45720" rIns="45719" bIns="45720" anchor="ctr">
            <a:normAutofit/>
          </a:bodyPr>
          <a:lstStyle>
            <a:lvl1pPr marL="228600" marR="0" indent="-228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723900" marR="0" indent="-2667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1234439" marR="0" indent="-320039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1727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21844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26416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30988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35560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4013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hangingPunct="1">
              <a:lnSpc>
                <a:spcPct val="120000"/>
              </a:lnSpc>
            </a:pPr>
            <a:r>
              <a:rPr lang="en-US" sz="1500" b="1" dirty="0">
                <a:solidFill>
                  <a:srgbClr val="1A1A2E"/>
                </a:solidFill>
                <a:latin typeface="Microsoft YaHei"/>
              </a:rPr>
              <a:t>Sources: WHO/UNICEF JMP  ·  World Bank Mortality  ·  World Bank GDP</a:t>
            </a:r>
            <a:endParaRPr lang="en-US" sz="1400" dirty="0"/>
          </a:p>
          <a:p>
            <a:pPr hangingPunct="1">
              <a:lnSpc>
                <a:spcPct val="120000"/>
              </a:lnSpc>
            </a:pPr>
            <a:r>
              <a:rPr lang="en-US" sz="1400" dirty="0">
                <a:solidFill>
                  <a:srgbClr val="000000"/>
                </a:solidFill>
                <a:latin typeface="Microsoft YaHei"/>
              </a:rPr>
              <a:t>Income Group: Low / Lower-Middle / Upper-Middle / High</a:t>
            </a:r>
          </a:p>
          <a:p>
            <a:pPr hangingPunct="1">
              <a:lnSpc>
                <a:spcPct val="120000"/>
              </a:lnSpc>
            </a:pPr>
            <a:r>
              <a:rPr lang="en-US" sz="1400" dirty="0">
                <a:solidFill>
                  <a:srgbClr val="000000"/>
                </a:solidFill>
                <a:latin typeface="Microsoft YaHei"/>
              </a:rPr>
              <a:t>Binary target: High Mortality = 1 if rate &gt; 6.10  (90 low, 87 high)</a:t>
            </a:r>
          </a:p>
          <a:p>
            <a:pPr hangingPunct="1">
              <a:lnSpc>
                <a:spcPct val="80000"/>
              </a:lnSpc>
            </a:pPr>
            <a:endParaRPr lang="en-US" sz="1400" dirty="0"/>
          </a:p>
          <a:p>
            <a:pPr hangingPunct="1">
              <a:lnSpc>
                <a:spcPct val="120000"/>
              </a:lnSpc>
            </a:pPr>
            <a:r>
              <a:rPr lang="en-US" sz="1400" dirty="0">
                <a:solidFill>
                  <a:srgbClr val="4617DE"/>
                </a:solidFill>
                <a:latin typeface="Microsoft YaHei"/>
              </a:rPr>
              <a:t>5 RFE-selected features: Safely Managed, Limited Service, Unimproved, Surface Water, GDP per Capita</a:t>
            </a:r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0AE1FE6D-7DE4-363B-C516-9DB708C578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8155" y="1629975"/>
            <a:ext cx="4463845" cy="37234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4494369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A5E3D3-A246-1FBF-1036-07B63BBBF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Title 1">
            <a:extLst>
              <a:ext uri="{FF2B5EF4-FFF2-40B4-BE49-F238E27FC236}">
                <a16:creationId xmlns:a16="http://schemas.microsoft.com/office/drawing/2014/main" id="{4B23841E-5808-5E04-2CC0-9E5C4654A1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0854" y="1629976"/>
            <a:ext cx="7756075" cy="869546"/>
          </a:xfrm>
          <a:prstGeom prst="rect">
            <a:avLst/>
          </a:prstGeom>
        </p:spPr>
        <p:txBody>
          <a:bodyPr lIns="45719" tIns="45720" rIns="45719" bIns="45720" anchor="ctr">
            <a:normAutofit fontScale="90000"/>
          </a:bodyPr>
          <a:lstStyle/>
          <a:p>
            <a:pPr defTabSz="795527">
              <a:defRPr sz="3393">
                <a:solidFill>
                  <a:srgbClr val="383838"/>
                </a:solidFill>
                <a:latin typeface="Merriweather Sans Regular"/>
                <a:ea typeface="Merriweather Sans Regular"/>
                <a:cs typeface="Merriweather Sans Regular"/>
                <a:sym typeface="Merriweather Sans Regular"/>
              </a:defRPr>
            </a:pPr>
            <a:r>
              <a:rPr lang="en-US" sz="3350" b="1" dirty="0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Model Selection and Training</a:t>
            </a:r>
            <a:r>
              <a:rPr lang="tr-TR" sz="3350" b="1" dirty="0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/</a:t>
            </a:r>
            <a:r>
              <a:rPr lang="tr-TR" sz="3350" b="1" dirty="0" err="1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Testing</a:t>
            </a:r>
            <a:endParaRPr lang="tr-TR" sz="3350" b="1" dirty="0">
              <a:solidFill>
                <a:schemeClr val="bg1"/>
              </a:solidFill>
              <a:latin typeface="Microsoft YaHei"/>
              <a:ea typeface="Merriweather Sans Regular ExtraBold"/>
              <a:cs typeface="Merriweather Sans Regular ExtraBold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3A7A9FBD-9C91-0E31-84AA-C64E18617A43}"/>
                  </a:ext>
                </a:extLst>
              </p14:cNvPr>
              <p14:cNvContentPartPr/>
              <p14:nvPr/>
            </p14:nvContentPartPr>
            <p14:xfrm>
              <a:off x="9907437" y="716254"/>
              <a:ext cx="13252" cy="13252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244837" y="53654"/>
                <a:ext cx="1325200" cy="13252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Rectangle">
            <a:extLst>
              <a:ext uri="{FF2B5EF4-FFF2-40B4-BE49-F238E27FC236}">
                <a16:creationId xmlns:a16="http://schemas.microsoft.com/office/drawing/2014/main" id="{ED1211A4-BEC4-6DF1-5C11-FAEB7B9A7D60}"/>
              </a:ext>
            </a:extLst>
          </p:cNvPr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517B9DCC-567A-6B1C-0771-F88670B3DA29}"/>
                  </a:ext>
                </a:extLst>
              </p14:cNvPr>
              <p14:cNvContentPartPr/>
              <p14:nvPr/>
            </p14:nvContentPartPr>
            <p14:xfrm>
              <a:off x="1100137" y="565105"/>
              <a:ext cx="13252" cy="13252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9270" y="517776"/>
                <a:ext cx="450568" cy="106963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03D5BFC0-AF58-A44A-97F7-B33040056F7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534778" y="0"/>
            <a:ext cx="2657222" cy="11785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7E0608D-2B53-EA16-F337-45EFE96C937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6118" y="2251881"/>
            <a:ext cx="3838069" cy="56850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69CB8EE-A636-6ECA-D5AE-93CCF86A34A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-2720" y="6663074"/>
            <a:ext cx="12194720" cy="243885"/>
          </a:xfrm>
          <a:prstGeom prst="rect">
            <a:avLst/>
          </a:prstGeom>
        </p:spPr>
      </p:pic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750EBB7-A2EF-3ABD-1A81-D61AAB5C4438}"/>
              </a:ext>
            </a:extLst>
          </p:cNvPr>
          <p:cNvSpPr txBox="1">
            <a:spLocks/>
          </p:cNvSpPr>
          <p:nvPr/>
        </p:nvSpPr>
        <p:spPr>
          <a:xfrm>
            <a:off x="515075" y="2994672"/>
            <a:ext cx="7478551" cy="31732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tIns="45720" rIns="45719" bIns="45720" anchor="ctr">
            <a:normAutofit/>
          </a:bodyPr>
          <a:lstStyle>
            <a:lvl1pPr marL="228600" marR="0" indent="-228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723900" marR="0" indent="-2667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1234439" marR="0" indent="-320039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1727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21844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26416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30988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35560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4013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hangingPunct="1">
              <a:lnSpc>
                <a:spcPct val="120000"/>
              </a:lnSpc>
            </a:pPr>
            <a:r>
              <a:rPr lang="en-US" sz="1500" b="1" dirty="0">
                <a:solidFill>
                  <a:srgbClr val="1A1A2E"/>
                </a:solidFill>
                <a:latin typeface="Microsoft YaHei"/>
              </a:rPr>
              <a:t>5 Baseline Classifiers - RFE Feature Selection - </a:t>
            </a:r>
            <a:r>
              <a:rPr lang="en-US" sz="1500" b="1" dirty="0" err="1">
                <a:solidFill>
                  <a:srgbClr val="1A1A2E"/>
                </a:solidFill>
                <a:latin typeface="Microsoft YaHei"/>
              </a:rPr>
              <a:t>GridSearchCV</a:t>
            </a:r>
            <a:r>
              <a:rPr lang="en-US" sz="1500" b="1" dirty="0">
                <a:solidFill>
                  <a:srgbClr val="1A1A2E"/>
                </a:solidFill>
                <a:latin typeface="Microsoft YaHei"/>
              </a:rPr>
              <a:t> Tuning</a:t>
            </a:r>
          </a:p>
          <a:p>
            <a:pPr hangingPunct="1">
              <a:lnSpc>
                <a:spcPct val="80000"/>
              </a:lnSpc>
            </a:pPr>
            <a:endParaRPr lang="en-US" sz="1400" dirty="0"/>
          </a:p>
          <a:p>
            <a:pPr hangingPunct="1">
              <a:lnSpc>
                <a:spcPct val="120000"/>
              </a:lnSpc>
            </a:pPr>
            <a:r>
              <a:rPr lang="en-US" sz="1500" b="1" dirty="0">
                <a:solidFill>
                  <a:srgbClr val="002060"/>
                </a:solidFill>
                <a:latin typeface="Microsoft YaHei"/>
              </a:rPr>
              <a:t>Best: Random Forest:  83.3% accuracy,  AUC 0.875, CV gap: 0.021 (no overfitting)</a:t>
            </a:r>
          </a:p>
          <a:p>
            <a:pPr hangingPunct="1">
              <a:lnSpc>
                <a:spcPct val="120000"/>
              </a:lnSpc>
            </a:pPr>
            <a:r>
              <a:rPr lang="en-US" sz="1400" dirty="0">
                <a:solidFill>
                  <a:srgbClr val="000000"/>
                </a:solidFill>
                <a:latin typeface="Microsoft YaHei"/>
              </a:rPr>
              <a:t>Logistic Regression: 77.8% accuracy , AUC 0.861, mild overfit</a:t>
            </a:r>
          </a:p>
          <a:p>
            <a:pPr hangingPunct="1">
              <a:lnSpc>
                <a:spcPct val="120000"/>
              </a:lnSpc>
            </a:pPr>
            <a:r>
              <a:rPr lang="en-US" sz="1400" dirty="0">
                <a:solidFill>
                  <a:srgbClr val="000000"/>
                </a:solidFill>
                <a:latin typeface="Microsoft YaHei"/>
              </a:rPr>
              <a:t>Gradient Boosting: 75.0% accuracy, AUC 0.829, overfit warning</a:t>
            </a:r>
          </a:p>
          <a:p>
            <a:pPr hangingPunct="1">
              <a:lnSpc>
                <a:spcPct val="80000"/>
              </a:lnSpc>
            </a:pPr>
            <a:endParaRPr lang="en-US" sz="1400" dirty="0"/>
          </a:p>
          <a:p>
            <a:pPr hangingPunct="1">
              <a:lnSpc>
                <a:spcPct val="120000"/>
              </a:lnSpc>
            </a:pPr>
            <a:r>
              <a:rPr lang="en-US" sz="1400" dirty="0">
                <a:solidFill>
                  <a:srgbClr val="555555"/>
                </a:solidFill>
                <a:latin typeface="Microsoft YaHei"/>
              </a:rPr>
              <a:t>Regression: RF Regressor R² = 0.64 / RMSE = 12.84  (Linear: R² = 0.59)</a:t>
            </a:r>
          </a:p>
        </p:txBody>
      </p:sp>
      <p:pic>
        <p:nvPicPr>
          <p:cNvPr id="5124" name="Picture 4">
            <a:extLst>
              <a:ext uri="{FF2B5EF4-FFF2-40B4-BE49-F238E27FC236}">
                <a16:creationId xmlns:a16="http://schemas.microsoft.com/office/drawing/2014/main" id="{B1290933-F280-8639-30C2-E865DA8400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3626" y="1219512"/>
            <a:ext cx="4198374" cy="3323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>
            <a:extLst>
              <a:ext uri="{FF2B5EF4-FFF2-40B4-BE49-F238E27FC236}">
                <a16:creationId xmlns:a16="http://schemas.microsoft.com/office/drawing/2014/main" id="{CA829F2A-AE0C-46E6-A2DF-64CA8F3E06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6795" y="4497372"/>
            <a:ext cx="4229595" cy="2409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0857646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A50125-0EAB-7433-9BD1-9F8A06B6E9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Title 1">
            <a:extLst>
              <a:ext uri="{FF2B5EF4-FFF2-40B4-BE49-F238E27FC236}">
                <a16:creationId xmlns:a16="http://schemas.microsoft.com/office/drawing/2014/main" id="{25214560-EDB1-BDFF-BB93-4B37828325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0854" y="1629976"/>
            <a:ext cx="7756075" cy="869546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 defTabSz="795527">
              <a:defRPr sz="3393">
                <a:solidFill>
                  <a:srgbClr val="383838"/>
                </a:solidFill>
                <a:latin typeface="Merriweather Sans Regular"/>
                <a:ea typeface="Merriweather Sans Regular"/>
                <a:cs typeface="Merriweather Sans Regular"/>
                <a:sym typeface="Merriweather Sans Regular"/>
              </a:defRPr>
            </a:pPr>
            <a:r>
              <a:rPr lang="tr-TR" sz="3350" b="1" dirty="0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Evaluation </a:t>
            </a:r>
            <a:r>
              <a:rPr lang="tr-TR" sz="3350" b="1" dirty="0" err="1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Results</a:t>
            </a:r>
            <a:endParaRPr lang="tr-TR" sz="3350" b="1" dirty="0">
              <a:solidFill>
                <a:schemeClr val="bg1"/>
              </a:solidFill>
              <a:latin typeface="Microsoft YaHei"/>
              <a:ea typeface="Merriweather Sans Regular ExtraBold"/>
              <a:cs typeface="Merriweather Sans Regular ExtraBold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F607FB31-9E71-D065-EB98-84E98B7CEE89}"/>
                  </a:ext>
                </a:extLst>
              </p14:cNvPr>
              <p14:cNvContentPartPr/>
              <p14:nvPr/>
            </p14:nvContentPartPr>
            <p14:xfrm>
              <a:off x="9907437" y="716254"/>
              <a:ext cx="13252" cy="13252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244837" y="53654"/>
                <a:ext cx="1325200" cy="13252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Rectangle">
            <a:extLst>
              <a:ext uri="{FF2B5EF4-FFF2-40B4-BE49-F238E27FC236}">
                <a16:creationId xmlns:a16="http://schemas.microsoft.com/office/drawing/2014/main" id="{34920EB0-ED1C-F718-FB33-2DB2FB707CBD}"/>
              </a:ext>
            </a:extLst>
          </p:cNvPr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A6AF9B99-B034-D6BB-2CEC-380157A76D75}"/>
                  </a:ext>
                </a:extLst>
              </p14:cNvPr>
              <p14:cNvContentPartPr/>
              <p14:nvPr/>
            </p14:nvContentPartPr>
            <p14:xfrm>
              <a:off x="1100137" y="565105"/>
              <a:ext cx="13252" cy="13252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9270" y="517776"/>
                <a:ext cx="450568" cy="106963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D5837826-A4BA-D674-8A4C-EE99873D0AF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534778" y="0"/>
            <a:ext cx="2657222" cy="11785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EF9A128-30E3-3337-5E8D-B82A8276397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6118" y="2251881"/>
            <a:ext cx="3838069" cy="56850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D50C84C-A3C4-1F6F-C50F-834AAEBBD54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-2720" y="6663074"/>
            <a:ext cx="12194720" cy="243885"/>
          </a:xfrm>
          <a:prstGeom prst="rect">
            <a:avLst/>
          </a:prstGeom>
        </p:spPr>
      </p:pic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43AEF763-C430-BBDC-2615-2242653AD1A6}"/>
              </a:ext>
            </a:extLst>
          </p:cNvPr>
          <p:cNvSpPr txBox="1">
            <a:spLocks/>
          </p:cNvSpPr>
          <p:nvPr/>
        </p:nvSpPr>
        <p:spPr>
          <a:xfrm>
            <a:off x="716118" y="2994672"/>
            <a:ext cx="8007631" cy="31732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tIns="45720" rIns="45719" bIns="45720" anchor="ctr">
            <a:normAutofit/>
          </a:bodyPr>
          <a:lstStyle>
            <a:lvl1pPr marL="228600" marR="0" indent="-228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723900" marR="0" indent="-2667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1234439" marR="0" indent="-320039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1727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21844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26416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30988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35560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4013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hangingPunct="1">
              <a:lnSpc>
                <a:spcPct val="120000"/>
              </a:lnSpc>
            </a:pPr>
            <a:r>
              <a:rPr lang="en-US" sz="1800" b="1" dirty="0">
                <a:solidFill>
                  <a:srgbClr val="1A1A2E"/>
                </a:solidFill>
                <a:latin typeface="Microsoft YaHei"/>
              </a:rPr>
              <a:t>Random Forest (Tuned</a:t>
            </a:r>
          </a:p>
          <a:p>
            <a:pPr hangingPunct="1">
              <a:lnSpc>
                <a:spcPct val="80000"/>
              </a:lnSpc>
            </a:pPr>
            <a:endParaRPr lang="en-US" sz="1400" dirty="0"/>
          </a:p>
          <a:p>
            <a:pPr hangingPunct="1">
              <a:lnSpc>
                <a:spcPct val="120000"/>
              </a:lnSpc>
            </a:pPr>
            <a:r>
              <a:rPr lang="en-US" sz="1600" b="1" dirty="0">
                <a:solidFill>
                  <a:srgbClr val="1A7D44"/>
                </a:solidFill>
                <a:latin typeface="Microsoft YaHei"/>
              </a:rPr>
              <a:t>Accuracy: 83.3%     AUC: 0.875     F1: 0.833</a:t>
            </a:r>
          </a:p>
          <a:p>
            <a:pPr hangingPunct="1">
              <a:lnSpc>
                <a:spcPct val="80000"/>
              </a:lnSpc>
            </a:pPr>
            <a:endParaRPr lang="en-US" sz="1400" dirty="0"/>
          </a:p>
          <a:p>
            <a:pPr hangingPunct="1">
              <a:lnSpc>
                <a:spcPct val="120000"/>
              </a:lnSpc>
            </a:pPr>
            <a:r>
              <a:rPr lang="en-US" sz="1500" dirty="0">
                <a:solidFill>
                  <a:srgbClr val="000000"/>
                </a:solidFill>
                <a:latin typeface="Microsoft YaHei"/>
              </a:rPr>
              <a:t>Confusion Matrix: 16 TN,  14 TP, 2 FP , 4 FN</a:t>
            </a:r>
          </a:p>
          <a:p>
            <a:pPr hangingPunct="1">
              <a:lnSpc>
                <a:spcPct val="120000"/>
              </a:lnSpc>
            </a:pPr>
            <a:r>
              <a:rPr lang="en-US" sz="1400" dirty="0">
                <a:solidFill>
                  <a:srgbClr val="C0392B"/>
                </a:solidFill>
                <a:latin typeface="Microsoft YaHei"/>
              </a:rPr>
              <a:t>4 false negatives = high-mortality countries missed (key public health risk)</a:t>
            </a:r>
          </a:p>
          <a:p>
            <a:pPr hangingPunct="1">
              <a:lnSpc>
                <a:spcPct val="80000"/>
              </a:lnSpc>
            </a:pPr>
            <a:endParaRPr lang="en-US" sz="1400" dirty="0"/>
          </a:p>
          <a:p>
            <a:pPr hangingPunct="1">
              <a:lnSpc>
                <a:spcPct val="120000"/>
              </a:lnSpc>
            </a:pP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Microsoft YaHei"/>
              </a:rPr>
              <a:t>Unimproved water access is the strongest single predictor (importance = 0.219)</a:t>
            </a:r>
          </a:p>
          <a:p>
            <a:pPr hangingPunct="1">
              <a:lnSpc>
                <a:spcPct val="80000"/>
              </a:lnSpc>
            </a:pPr>
            <a:endParaRPr lang="en-US" sz="1400" dirty="0"/>
          </a:p>
        </p:txBody>
      </p:sp>
      <p:pic>
        <p:nvPicPr>
          <p:cNvPr id="6148" name="Picture 4">
            <a:extLst>
              <a:ext uri="{FF2B5EF4-FFF2-40B4-BE49-F238E27FC236}">
                <a16:creationId xmlns:a16="http://schemas.microsoft.com/office/drawing/2014/main" id="{0BAB7F02-EFF1-4C7B-44EE-C723FADFD9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0871" y="1231158"/>
            <a:ext cx="3590525" cy="3024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>
            <a:extLst>
              <a:ext uri="{FF2B5EF4-FFF2-40B4-BE49-F238E27FC236}">
                <a16:creationId xmlns:a16="http://schemas.microsoft.com/office/drawing/2014/main" id="{35AEECEE-0382-747C-7A99-4FCAAA7F79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3327" y="4114703"/>
            <a:ext cx="4168673" cy="2300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A black and white text&#10;&#10;AI-generated content may be incorrect.">
            <a:extLst>
              <a:ext uri="{FF2B5EF4-FFF2-40B4-BE49-F238E27FC236}">
                <a16:creationId xmlns:a16="http://schemas.microsoft.com/office/drawing/2014/main" id="{3404940A-EC7E-3D67-3A1B-6A9D33E9A353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52" y="82003"/>
            <a:ext cx="5054600" cy="80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579858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F7EE49-26FB-FE42-C405-FDE9952E8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Title 1">
            <a:extLst>
              <a:ext uri="{FF2B5EF4-FFF2-40B4-BE49-F238E27FC236}">
                <a16:creationId xmlns:a16="http://schemas.microsoft.com/office/drawing/2014/main" id="{D17768CE-A33E-DF56-D03E-69A57906F26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0854" y="1629976"/>
            <a:ext cx="7756075" cy="869546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 defTabSz="795527">
              <a:defRPr sz="3393">
                <a:solidFill>
                  <a:srgbClr val="383838"/>
                </a:solidFill>
                <a:latin typeface="Merriweather Sans Regular"/>
                <a:ea typeface="Merriweather Sans Regular"/>
                <a:cs typeface="Merriweather Sans Regular"/>
                <a:sym typeface="Merriweather Sans Regular"/>
              </a:defRPr>
            </a:pPr>
            <a:r>
              <a:rPr lang="tr-TR" sz="3350" b="1" dirty="0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Deployment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4BEA1273-D078-5363-F4F9-DB5E45A754B5}"/>
                  </a:ext>
                </a:extLst>
              </p14:cNvPr>
              <p14:cNvContentPartPr/>
              <p14:nvPr/>
            </p14:nvContentPartPr>
            <p14:xfrm>
              <a:off x="9907437" y="716254"/>
              <a:ext cx="13252" cy="13252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244837" y="53654"/>
                <a:ext cx="1325200" cy="13252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Rectangle">
            <a:extLst>
              <a:ext uri="{FF2B5EF4-FFF2-40B4-BE49-F238E27FC236}">
                <a16:creationId xmlns:a16="http://schemas.microsoft.com/office/drawing/2014/main" id="{776B834A-1672-E504-FA55-273D4A0EA76E}"/>
              </a:ext>
            </a:extLst>
          </p:cNvPr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ED3DE01A-3AEA-898F-A7BA-6182A2051DCE}"/>
                  </a:ext>
                </a:extLst>
              </p14:cNvPr>
              <p14:cNvContentPartPr/>
              <p14:nvPr/>
            </p14:nvContentPartPr>
            <p14:xfrm>
              <a:off x="1100137" y="565105"/>
              <a:ext cx="13252" cy="13252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9270" y="517776"/>
                <a:ext cx="450568" cy="106963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714FF932-CF8F-A315-DC7A-2878D763E22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534778" y="0"/>
            <a:ext cx="2657222" cy="11785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5F3A94E-6C00-6DEB-F06A-45C060C0982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6118" y="2251881"/>
            <a:ext cx="3838069" cy="56850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BBE3CA2-AD21-DC80-E685-896F474CB92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-2720" y="6663074"/>
            <a:ext cx="12194720" cy="243885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3551AFE-6143-40EC-F311-C8E94A32FD54}"/>
              </a:ext>
            </a:extLst>
          </p:cNvPr>
          <p:cNvSpPr txBox="1">
            <a:spLocks/>
          </p:cNvSpPr>
          <p:nvPr/>
        </p:nvSpPr>
        <p:spPr>
          <a:xfrm>
            <a:off x="515075" y="2994672"/>
            <a:ext cx="8007631" cy="31732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tIns="45720" rIns="45719" bIns="45720" anchor="ctr">
            <a:normAutofit/>
          </a:bodyPr>
          <a:lstStyle>
            <a:lvl1pPr marL="228600" marR="0" indent="-228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723900" marR="0" indent="-2667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1234439" marR="0" indent="-320039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1727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21844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26416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30988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35560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4013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hangingPunct="1">
              <a:lnSpc>
                <a:spcPct val="120000"/>
              </a:lnSpc>
            </a:pPr>
            <a:r>
              <a:rPr lang="en-US" sz="1700" b="1" dirty="0" err="1">
                <a:solidFill>
                  <a:srgbClr val="1A1A2E"/>
                </a:solidFill>
                <a:latin typeface="Microsoft YaHei"/>
              </a:rPr>
              <a:t>FastAPI</a:t>
            </a:r>
            <a:r>
              <a:rPr lang="en-US" sz="1700" b="1" dirty="0">
                <a:solidFill>
                  <a:srgbClr val="1A1A2E"/>
                </a:solidFill>
                <a:latin typeface="Microsoft YaHei"/>
              </a:rPr>
              <a:t> Endpoint </a:t>
            </a:r>
          </a:p>
          <a:p>
            <a:pPr hangingPunct="1">
              <a:lnSpc>
                <a:spcPct val="120000"/>
              </a:lnSpc>
            </a:pPr>
            <a:r>
              <a:rPr lang="en-US" sz="1500" dirty="0">
                <a:solidFill>
                  <a:srgbClr val="000000"/>
                </a:solidFill>
                <a:latin typeface="Microsoft YaHei"/>
              </a:rPr>
              <a:t>Two artefacts </a:t>
            </a:r>
            <a:r>
              <a:rPr lang="en-US" sz="1500" dirty="0" err="1">
                <a:solidFill>
                  <a:srgbClr val="000000"/>
                </a:solidFill>
                <a:latin typeface="Microsoft YaHei"/>
              </a:rPr>
              <a:t>serialised</a:t>
            </a:r>
            <a:r>
              <a:rPr lang="en-US" sz="1500" dirty="0">
                <a:solidFill>
                  <a:srgbClr val="000000"/>
                </a:solidFill>
                <a:latin typeface="Microsoft YaHei"/>
              </a:rPr>
              <a:t> via </a:t>
            </a:r>
            <a:r>
              <a:rPr lang="en-US" sz="1500" dirty="0" err="1">
                <a:solidFill>
                  <a:srgbClr val="000000"/>
                </a:solidFill>
                <a:latin typeface="Microsoft YaHei"/>
              </a:rPr>
              <a:t>joblib</a:t>
            </a:r>
            <a:r>
              <a:rPr lang="en-US" sz="1500" dirty="0">
                <a:solidFill>
                  <a:srgbClr val="000000"/>
                </a:solidFill>
                <a:latin typeface="Microsoft YaHei"/>
              </a:rPr>
              <a:t>: </a:t>
            </a:r>
            <a:r>
              <a:rPr lang="en-US" sz="1500" dirty="0" err="1">
                <a:solidFill>
                  <a:srgbClr val="000000"/>
                </a:solidFill>
                <a:latin typeface="Microsoft YaHei"/>
              </a:rPr>
              <a:t>RandomForestClassifier</a:t>
            </a:r>
            <a:r>
              <a:rPr lang="en-US" sz="1500" dirty="0">
                <a:solidFill>
                  <a:srgbClr val="000000"/>
                </a:solidFill>
                <a:latin typeface="Microsoft YaHei"/>
              </a:rPr>
              <a:t> + </a:t>
            </a:r>
            <a:r>
              <a:rPr lang="en-US" sz="1500" dirty="0" err="1">
                <a:solidFill>
                  <a:srgbClr val="000000"/>
                </a:solidFill>
                <a:latin typeface="Microsoft YaHei"/>
              </a:rPr>
              <a:t>StandardScaler</a:t>
            </a:r>
            <a:endParaRPr lang="en-US" sz="1500" dirty="0">
              <a:solidFill>
                <a:srgbClr val="000000"/>
              </a:solidFill>
              <a:latin typeface="Microsoft YaHei"/>
            </a:endParaRPr>
          </a:p>
          <a:p>
            <a:pPr hangingPunct="1">
              <a:lnSpc>
                <a:spcPct val="80000"/>
              </a:lnSpc>
            </a:pPr>
            <a:endParaRPr lang="en-US" sz="1400" dirty="0"/>
          </a:p>
          <a:p>
            <a:pPr hangingPunct="1">
              <a:lnSpc>
                <a:spcPct val="120000"/>
              </a:lnSpc>
            </a:pPr>
            <a:r>
              <a:rPr lang="en-US" sz="1500" dirty="0">
                <a:solidFill>
                  <a:srgbClr val="000000"/>
                </a:solidFill>
                <a:latin typeface="Microsoft YaHei"/>
              </a:rPr>
              <a:t>Security:  API-key authentication (x-</a:t>
            </a:r>
            <a:r>
              <a:rPr lang="en-US" sz="1500" dirty="0" err="1">
                <a:solidFill>
                  <a:srgbClr val="000000"/>
                </a:solidFill>
                <a:latin typeface="Microsoft YaHei"/>
              </a:rPr>
              <a:t>api</a:t>
            </a:r>
            <a:r>
              <a:rPr lang="en-US" sz="1500" dirty="0">
                <a:solidFill>
                  <a:srgbClr val="000000"/>
                </a:solidFill>
                <a:latin typeface="Microsoft YaHei"/>
              </a:rPr>
              <a:t>-key)  |  HTTPS / TLS in production</a:t>
            </a:r>
          </a:p>
          <a:p>
            <a:pPr hangingPunct="1">
              <a:lnSpc>
                <a:spcPct val="120000"/>
              </a:lnSpc>
            </a:pPr>
            <a:r>
              <a:rPr lang="en-US" sz="1500" dirty="0">
                <a:solidFill>
                  <a:srgbClr val="000000"/>
                </a:solidFill>
                <a:latin typeface="Microsoft YaHei"/>
              </a:rPr>
              <a:t>Validation:  All water % inputs range checked 0–100  |  HTTP 401 on invalid key</a:t>
            </a:r>
          </a:p>
          <a:p>
            <a:pPr hangingPunct="1">
              <a:lnSpc>
                <a:spcPct val="80000"/>
              </a:lnSpc>
            </a:pPr>
            <a:endParaRPr lang="en-US" sz="1400" dirty="0"/>
          </a:p>
          <a:p>
            <a:pPr hangingPunct="1">
              <a:lnSpc>
                <a:spcPct val="120000"/>
              </a:lnSpc>
            </a:pP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Microsoft YaHei"/>
              </a:rPr>
              <a:t>Logging:  Prediction count, confidence, auth failures, response time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E1A8E6E-33B8-94D7-CBFB-CB1CE9E6794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96929" y="1234860"/>
            <a:ext cx="3744411" cy="4979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4120664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CAF23-DD65-269F-1D8E-1CA6266C6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UNDP ve Samsung'un kadınlara yönelik yapay zeka sınıfı ilk mezunlarını  verdi | United Nations Development Programme">
            <a:extLst>
              <a:ext uri="{FF2B5EF4-FFF2-40B4-BE49-F238E27FC236}">
                <a16:creationId xmlns:a16="http://schemas.microsoft.com/office/drawing/2014/main" id="{424D67F3-3598-4FAC-91DD-AA981438EF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246200F-AEC9-7D97-EAEC-3184EDC342F6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en-US" b="1" dirty="0">
                <a:latin typeface="Microsoft YaHei"/>
              </a:rPr>
              <a:t>Thank you!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2296119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frontiertech">
  <a:themeElements>
    <a:clrScheme name="frontiertech">
      <a:dk1>
        <a:srgbClr val="2B2551"/>
      </a:dk1>
      <a:lt1>
        <a:srgbClr val="FEFFFE"/>
      </a:lt1>
      <a:dk2>
        <a:srgbClr val="A7A7A7"/>
      </a:dk2>
      <a:lt2>
        <a:srgbClr val="535353"/>
      </a:lt2>
      <a:accent1>
        <a:srgbClr val="FEC736"/>
      </a:accent1>
      <a:accent2>
        <a:srgbClr val="4CA2A9"/>
      </a:accent2>
      <a:accent3>
        <a:srgbClr val="5E73AC"/>
      </a:accent3>
      <a:accent4>
        <a:srgbClr val="B68A29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frontiertech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frontiertech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FEFFFE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FEFFFE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frontiertech">
  <a:themeElements>
    <a:clrScheme name="frontiertech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FEC736"/>
      </a:accent1>
      <a:accent2>
        <a:srgbClr val="4CA2A9"/>
      </a:accent2>
      <a:accent3>
        <a:srgbClr val="5E73AC"/>
      </a:accent3>
      <a:accent4>
        <a:srgbClr val="B68A29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frontiertech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frontiertech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FEFFFE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FEFFFE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7847797-b717-4ffb-b5fd-2a237f853cda" xsi:nil="true"/>
    <lcf76f155ced4ddcb4097134ff3c332f xmlns="6259e846-8b77-4076-b7b3-191dee427045">
      <Terms xmlns="http://schemas.microsoft.com/office/infopath/2007/PartnerControls"/>
    </lcf76f155ced4ddcb4097134ff3c332f>
    <SharedWithUsers xmlns="97847797-b717-4ffb-b5fd-2a237f853cda">
      <UserInfo>
        <DisplayName>Yawen Liu</DisplayName>
        <AccountId>199</AccountId>
        <AccountType/>
      </UserInfo>
    </SharedWithUsers>
    <_Flow_SignoffStatus xmlns="6259e846-8b77-4076-b7b3-191dee42704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E9A02BA3BD6C54284F20B51199E6706" ma:contentTypeVersion="15" ma:contentTypeDescription="Create a new document." ma:contentTypeScope="" ma:versionID="1314add8d98afe7b1ad8b68d04a9bd93">
  <xsd:schema xmlns:xsd="http://www.w3.org/2001/XMLSchema" xmlns:xs="http://www.w3.org/2001/XMLSchema" xmlns:p="http://schemas.microsoft.com/office/2006/metadata/properties" xmlns:ns2="6259e846-8b77-4076-b7b3-191dee427045" xmlns:ns3="97847797-b717-4ffb-b5fd-2a237f853cda" targetNamespace="http://schemas.microsoft.com/office/2006/metadata/properties" ma:root="true" ma:fieldsID="5fce5cc6bbfd5576a0b874f3de58ed7d" ns2:_="" ns3:_="">
    <xsd:import namespace="6259e846-8b77-4076-b7b3-191dee427045"/>
    <xsd:import namespace="97847797-b717-4ffb-b5fd-2a237f853cd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_Flow_Signoff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59e846-8b77-4076-b7b3-191dee42704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f8ebb0a5-c57d-4c3a-bec7-8a38252dd05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Flow_SignoffStatus" ma:index="22" nillable="true" ma:displayName="Sign-off status" ma:internalName="Sign_x002d_off_x0020_status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847797-b717-4ffb-b5fd-2a237f853cda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c1c6c02b-ebe2-4c4d-aa1a-1071032b151f}" ma:internalName="TaxCatchAll" ma:showField="CatchAllData" ma:web="97847797-b717-4ffb-b5fd-2a237f853cd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2FFB1A3-86F8-4D83-B399-9B6D5E293CE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22449C5-8A7C-4DDF-8BBD-9834F5F8D2B3}">
  <ds:schemaRefs>
    <ds:schemaRef ds:uri="6259e846-8b77-4076-b7b3-191dee427045"/>
    <ds:schemaRef ds:uri="97847797-b717-4ffb-b5fd-2a237f853cda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C514ABFA-9A30-4B41-8A66-6FBD4BAF2C1A}">
  <ds:schemaRefs>
    <ds:schemaRef ds:uri="6259e846-8b77-4076-b7b3-191dee427045"/>
    <ds:schemaRef ds:uri="97847797-b717-4ffb-b5fd-2a237f853cd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1ada0a2f-b917-4d51-b0d0-d418a10c8b23}" enabled="1" method="Standard" siteId="{12a3af23-a769-4654-847f-958f3d479f4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474</Words>
  <Application>Microsoft Macintosh PowerPoint</Application>
  <PresentationFormat>Widescreen</PresentationFormat>
  <Paragraphs>55</Paragraphs>
  <Slides>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Microsoft YaHei</vt:lpstr>
      <vt:lpstr>Microsoft YaHei Light</vt:lpstr>
      <vt:lpstr>Arial</vt:lpstr>
      <vt:lpstr>Calibri</vt:lpstr>
      <vt:lpstr>Calibri Light</vt:lpstr>
      <vt:lpstr>Helvetica Neue Thin</vt:lpstr>
      <vt:lpstr>Merriweather Sans Light</vt:lpstr>
      <vt:lpstr>frontiertech</vt:lpstr>
      <vt:lpstr>PowerPoint Presentation</vt:lpstr>
      <vt:lpstr>Background</vt:lpstr>
      <vt:lpstr>Objectives</vt:lpstr>
      <vt:lpstr>SDG Relation</vt:lpstr>
      <vt:lpstr>Data</vt:lpstr>
      <vt:lpstr>Model Selection and Training/Testing</vt:lpstr>
      <vt:lpstr>Evaluation Results</vt:lpstr>
      <vt:lpstr>Deployment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Jones,Yasemin Elizabeth,TR-İstanbul</cp:lastModifiedBy>
  <cp:revision>21</cp:revision>
  <dcterms:modified xsi:type="dcterms:W3CDTF">2026-06-02T05:50:14Z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0x0101007E9A02BA3BD6C54284F20B51199E6706</vt:lpwstr>
  </property>
  <property fmtid="{D5CDD505-2E9C-101B-9397-08002B2CF9AE}" pid="3" name="MediaServiceImageTags">
    <vt:lpwstr/>
  </property>
</Properties>
</file>